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457200"/>
            <a:ext cx="320040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0" dirty="0">
                <a:solidFill>
                  <a:srgbClr val="1C2128"/>
                </a:solidFill>
              </a:rPr>
              <a:t>♟</a:t>
            </a:r>
            <a:endParaRPr lang="en-US" sz="22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Chess Engine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81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548640" y="29260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mouse-click to engine reply — every algorithm explained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749040"/>
            <a:ext cx="1828800" cy="54864"/>
          </a:xfrm>
          <a:prstGeom prst="rect">
            <a:avLst/>
          </a:prstGeom>
          <a:solidFill>
            <a:srgbClr val="F78166"/>
          </a:solidFill>
          <a:ln w="12700">
            <a:solidFill>
              <a:srgbClr val="F7816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4023360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</a:rPr>
              <a:t>1. Bitboard Representation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4343400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</a:rPr>
              <a:t>2. Zobrist Hashing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4663440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</a:rPr>
              <a:t>3. Move Generation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4983480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</a:rPr>
              <a:t>4. Iterative Deepening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06240" y="4023360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</a:rPr>
              <a:t>5. Alpha-Beta Pruning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206240" y="4343400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</a:rPr>
              <a:t>6. Move Ordering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206240" y="4663440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</a:rPr>
              <a:t>7. Quiescence Search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206240" y="4983480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</a:rPr>
              <a:t>8. Static Evaluation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Is a Bitboard?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694944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piece type is stored as one 64-bit integer — one bit per square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11430000" cy="22860"/>
          </a:xfrm>
          <a:prstGeom prst="rect">
            <a:avLst/>
          </a:prstGeom>
          <a:solidFill>
            <a:srgbClr val="F78166"/>
          </a:solidFill>
          <a:ln w="12700">
            <a:solidFill>
              <a:srgbClr val="F781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0972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chess board has exactly 64 squares.  A 64-bit integer has exactly 64 bits.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engine maps them 1-to-1.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658368" cy="658368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2336" y="1819656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0</a:t>
            </a:r>
            <a:endParaRPr lang="en-US" sz="650" dirty="0"/>
          </a:p>
        </p:txBody>
      </p:sp>
      <p:sp>
        <p:nvSpPr>
          <p:cNvPr id="8" name="Shape 6"/>
          <p:cNvSpPr/>
          <p:nvPr/>
        </p:nvSpPr>
        <p:spPr>
          <a:xfrm>
            <a:off x="1024128" y="1783080"/>
            <a:ext cx="658368" cy="65836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0704" y="1819656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1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1682496" y="1783080"/>
            <a:ext cx="658368" cy="658368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719072" y="1819656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2</a:t>
            </a:r>
            <a:endParaRPr lang="en-US" sz="650" dirty="0"/>
          </a:p>
        </p:txBody>
      </p:sp>
      <p:sp>
        <p:nvSpPr>
          <p:cNvPr id="12" name="Shape 10"/>
          <p:cNvSpPr/>
          <p:nvPr/>
        </p:nvSpPr>
        <p:spPr>
          <a:xfrm>
            <a:off x="2340864" y="1783080"/>
            <a:ext cx="658368" cy="65836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77440" y="1819656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3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2999232" y="1783080"/>
            <a:ext cx="658368" cy="658368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35808" y="1819656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4</a:t>
            </a:r>
            <a:endParaRPr lang="en-US" sz="650" dirty="0"/>
          </a:p>
        </p:txBody>
      </p:sp>
      <p:sp>
        <p:nvSpPr>
          <p:cNvPr id="16" name="Shape 14"/>
          <p:cNvSpPr/>
          <p:nvPr/>
        </p:nvSpPr>
        <p:spPr>
          <a:xfrm>
            <a:off x="3657600" y="1783080"/>
            <a:ext cx="658368" cy="65836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94176" y="1819656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5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315968" y="1783080"/>
            <a:ext cx="658368" cy="658368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52544" y="1819656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6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4974336" y="1783080"/>
            <a:ext cx="658368" cy="65836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10912" y="1819656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7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365760" y="2441448"/>
            <a:ext cx="658368" cy="658368"/>
          </a:xfrm>
          <a:prstGeom prst="rect">
            <a:avLst/>
          </a:prstGeom>
          <a:solidFill>
            <a:srgbClr val="F78166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44144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D1117"/>
                </a:solidFill>
              </a:rPr>
              <a:t>♙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02336" y="2478024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0D1117"/>
                </a:solidFill>
              </a:rPr>
              <a:t>8</a:t>
            </a:r>
            <a:endParaRPr lang="en-US" sz="650" dirty="0"/>
          </a:p>
        </p:txBody>
      </p:sp>
      <p:sp>
        <p:nvSpPr>
          <p:cNvPr id="25" name="Shape 23"/>
          <p:cNvSpPr/>
          <p:nvPr/>
        </p:nvSpPr>
        <p:spPr>
          <a:xfrm>
            <a:off x="1024128" y="2441448"/>
            <a:ext cx="658368" cy="658368"/>
          </a:xfrm>
          <a:prstGeom prst="rect">
            <a:avLst/>
          </a:prstGeom>
          <a:solidFill>
            <a:srgbClr val="F78166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24128" y="244144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D1117"/>
                </a:solidFill>
              </a:rPr>
              <a:t>♙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060704" y="2478024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0D1117"/>
                </a:solidFill>
              </a:rPr>
              <a:t>9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1682496" y="2441448"/>
            <a:ext cx="658368" cy="658368"/>
          </a:xfrm>
          <a:prstGeom prst="rect">
            <a:avLst/>
          </a:prstGeom>
          <a:solidFill>
            <a:srgbClr val="F78166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682496" y="244144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D1117"/>
                </a:solidFill>
              </a:rPr>
              <a:t>♙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1719072" y="2478024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0D1117"/>
                </a:solidFill>
              </a:rPr>
              <a:t>10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2340864" y="2441448"/>
            <a:ext cx="658368" cy="658368"/>
          </a:xfrm>
          <a:prstGeom prst="rect">
            <a:avLst/>
          </a:prstGeom>
          <a:solidFill>
            <a:srgbClr val="F78166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40864" y="244144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D1117"/>
                </a:solidFill>
              </a:rPr>
              <a:t>♙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2377440" y="2478024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0D1117"/>
                </a:solidFill>
              </a:rPr>
              <a:t>11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2999232" y="2441448"/>
            <a:ext cx="658368" cy="658368"/>
          </a:xfrm>
          <a:prstGeom prst="rect">
            <a:avLst/>
          </a:prstGeom>
          <a:solidFill>
            <a:srgbClr val="F78166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99232" y="244144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D1117"/>
                </a:solidFill>
              </a:rPr>
              <a:t>♙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3035808" y="2478024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0D1117"/>
                </a:solidFill>
              </a:rPr>
              <a:t>12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3657600" y="2441448"/>
            <a:ext cx="658368" cy="658368"/>
          </a:xfrm>
          <a:prstGeom prst="rect">
            <a:avLst/>
          </a:prstGeom>
          <a:solidFill>
            <a:srgbClr val="F78166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0" y="244144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D1117"/>
                </a:solidFill>
              </a:rPr>
              <a:t>♙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3694176" y="2478024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0D1117"/>
                </a:solidFill>
              </a:rPr>
              <a:t>13</a:t>
            </a:r>
            <a:endParaRPr lang="en-US" sz="650" dirty="0"/>
          </a:p>
        </p:txBody>
      </p:sp>
      <p:sp>
        <p:nvSpPr>
          <p:cNvPr id="40" name="Shape 38"/>
          <p:cNvSpPr/>
          <p:nvPr/>
        </p:nvSpPr>
        <p:spPr>
          <a:xfrm>
            <a:off x="4315968" y="2441448"/>
            <a:ext cx="658368" cy="658368"/>
          </a:xfrm>
          <a:prstGeom prst="rect">
            <a:avLst/>
          </a:prstGeom>
          <a:solidFill>
            <a:srgbClr val="F78166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15968" y="244144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D1117"/>
                </a:solidFill>
              </a:rPr>
              <a:t>♙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4352544" y="2478024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0D1117"/>
                </a:solidFill>
              </a:rPr>
              <a:t>14</a:t>
            </a:r>
            <a:endParaRPr lang="en-US" sz="650" dirty="0"/>
          </a:p>
        </p:txBody>
      </p:sp>
      <p:sp>
        <p:nvSpPr>
          <p:cNvPr id="43" name="Shape 41"/>
          <p:cNvSpPr/>
          <p:nvPr/>
        </p:nvSpPr>
        <p:spPr>
          <a:xfrm>
            <a:off x="4974336" y="2441448"/>
            <a:ext cx="658368" cy="658368"/>
          </a:xfrm>
          <a:prstGeom prst="rect">
            <a:avLst/>
          </a:prstGeom>
          <a:solidFill>
            <a:srgbClr val="F78166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74336" y="244144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D1117"/>
                </a:solidFill>
              </a:rPr>
              <a:t>♙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5010912" y="2478024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0D1117"/>
                </a:solidFill>
              </a:rPr>
              <a:t>15</a:t>
            </a:r>
            <a:endParaRPr lang="en-US" sz="650" dirty="0"/>
          </a:p>
        </p:txBody>
      </p:sp>
      <p:sp>
        <p:nvSpPr>
          <p:cNvPr id="46" name="Shape 44"/>
          <p:cNvSpPr/>
          <p:nvPr/>
        </p:nvSpPr>
        <p:spPr>
          <a:xfrm>
            <a:off x="365760" y="3099816"/>
            <a:ext cx="658368" cy="658368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02336" y="3136392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16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1024128" y="3099816"/>
            <a:ext cx="658368" cy="65836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60704" y="3136392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17</a:t>
            </a:r>
            <a:endParaRPr lang="en-US" sz="650" dirty="0"/>
          </a:p>
        </p:txBody>
      </p:sp>
      <p:sp>
        <p:nvSpPr>
          <p:cNvPr id="50" name="Shape 48"/>
          <p:cNvSpPr/>
          <p:nvPr/>
        </p:nvSpPr>
        <p:spPr>
          <a:xfrm>
            <a:off x="1682496" y="3099816"/>
            <a:ext cx="658368" cy="658368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719072" y="3136392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18</a:t>
            </a:r>
            <a:endParaRPr lang="en-US" sz="650" dirty="0"/>
          </a:p>
        </p:txBody>
      </p:sp>
      <p:sp>
        <p:nvSpPr>
          <p:cNvPr id="52" name="Shape 50"/>
          <p:cNvSpPr/>
          <p:nvPr/>
        </p:nvSpPr>
        <p:spPr>
          <a:xfrm>
            <a:off x="2340864" y="3099816"/>
            <a:ext cx="658368" cy="65836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377440" y="3136392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19</a:t>
            </a:r>
            <a:endParaRPr lang="en-US" sz="650" dirty="0"/>
          </a:p>
        </p:txBody>
      </p:sp>
      <p:sp>
        <p:nvSpPr>
          <p:cNvPr id="54" name="Shape 52"/>
          <p:cNvSpPr/>
          <p:nvPr/>
        </p:nvSpPr>
        <p:spPr>
          <a:xfrm>
            <a:off x="2999232" y="3099816"/>
            <a:ext cx="658368" cy="658368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035808" y="3136392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20</a:t>
            </a:r>
            <a:endParaRPr lang="en-US" sz="650" dirty="0"/>
          </a:p>
        </p:txBody>
      </p:sp>
      <p:sp>
        <p:nvSpPr>
          <p:cNvPr id="56" name="Shape 54"/>
          <p:cNvSpPr/>
          <p:nvPr/>
        </p:nvSpPr>
        <p:spPr>
          <a:xfrm>
            <a:off x="3657600" y="3099816"/>
            <a:ext cx="658368" cy="65836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694176" y="3136392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21</a:t>
            </a:r>
            <a:endParaRPr lang="en-US" sz="650" dirty="0"/>
          </a:p>
        </p:txBody>
      </p:sp>
      <p:sp>
        <p:nvSpPr>
          <p:cNvPr id="58" name="Shape 56"/>
          <p:cNvSpPr/>
          <p:nvPr/>
        </p:nvSpPr>
        <p:spPr>
          <a:xfrm>
            <a:off x="4315968" y="3099816"/>
            <a:ext cx="658368" cy="658368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352544" y="3136392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22</a:t>
            </a:r>
            <a:endParaRPr lang="en-US" sz="650" dirty="0"/>
          </a:p>
        </p:txBody>
      </p:sp>
      <p:sp>
        <p:nvSpPr>
          <p:cNvPr id="60" name="Shape 58"/>
          <p:cNvSpPr/>
          <p:nvPr/>
        </p:nvSpPr>
        <p:spPr>
          <a:xfrm>
            <a:off x="4974336" y="3099816"/>
            <a:ext cx="658368" cy="65836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010912" y="3136392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23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365760" y="3758184"/>
            <a:ext cx="658368" cy="65836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02336" y="3794760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24</a:t>
            </a:r>
            <a:endParaRPr lang="en-US" sz="650" dirty="0"/>
          </a:p>
        </p:txBody>
      </p:sp>
      <p:sp>
        <p:nvSpPr>
          <p:cNvPr id="64" name="Shape 62"/>
          <p:cNvSpPr/>
          <p:nvPr/>
        </p:nvSpPr>
        <p:spPr>
          <a:xfrm>
            <a:off x="1024128" y="3758184"/>
            <a:ext cx="658368" cy="658368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60704" y="3794760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25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1682496" y="3758184"/>
            <a:ext cx="658368" cy="65836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719072" y="3794760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26</a:t>
            </a:r>
            <a:endParaRPr lang="en-US" sz="650" dirty="0"/>
          </a:p>
        </p:txBody>
      </p:sp>
      <p:sp>
        <p:nvSpPr>
          <p:cNvPr id="68" name="Shape 66"/>
          <p:cNvSpPr/>
          <p:nvPr/>
        </p:nvSpPr>
        <p:spPr>
          <a:xfrm>
            <a:off x="2340864" y="3758184"/>
            <a:ext cx="658368" cy="658368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377440" y="3794760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27</a:t>
            </a:r>
            <a:endParaRPr lang="en-US" sz="650" dirty="0"/>
          </a:p>
        </p:txBody>
      </p:sp>
      <p:sp>
        <p:nvSpPr>
          <p:cNvPr id="70" name="Shape 68"/>
          <p:cNvSpPr/>
          <p:nvPr/>
        </p:nvSpPr>
        <p:spPr>
          <a:xfrm>
            <a:off x="2999232" y="3758184"/>
            <a:ext cx="658368" cy="65836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035808" y="3794760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28</a:t>
            </a:r>
            <a:endParaRPr lang="en-US" sz="650" dirty="0"/>
          </a:p>
        </p:txBody>
      </p:sp>
      <p:sp>
        <p:nvSpPr>
          <p:cNvPr id="72" name="Shape 70"/>
          <p:cNvSpPr/>
          <p:nvPr/>
        </p:nvSpPr>
        <p:spPr>
          <a:xfrm>
            <a:off x="3657600" y="3758184"/>
            <a:ext cx="658368" cy="658368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694176" y="3794760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29</a:t>
            </a:r>
            <a:endParaRPr lang="en-US" sz="650" dirty="0"/>
          </a:p>
        </p:txBody>
      </p:sp>
      <p:sp>
        <p:nvSpPr>
          <p:cNvPr id="74" name="Shape 72"/>
          <p:cNvSpPr/>
          <p:nvPr/>
        </p:nvSpPr>
        <p:spPr>
          <a:xfrm>
            <a:off x="4315968" y="3758184"/>
            <a:ext cx="658368" cy="65836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352544" y="3794760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30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4974336" y="3758184"/>
            <a:ext cx="658368" cy="658368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010912" y="3794760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31</a:t>
            </a:r>
            <a:endParaRPr lang="en-US" sz="650" dirty="0"/>
          </a:p>
        </p:txBody>
      </p:sp>
      <p:sp>
        <p:nvSpPr>
          <p:cNvPr id="78" name="Shape 76"/>
          <p:cNvSpPr/>
          <p:nvPr/>
        </p:nvSpPr>
        <p:spPr>
          <a:xfrm>
            <a:off x="365760" y="4416552"/>
            <a:ext cx="658368" cy="658368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02336" y="4453128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32</a:t>
            </a:r>
            <a:endParaRPr lang="en-US" sz="650" dirty="0"/>
          </a:p>
        </p:txBody>
      </p:sp>
      <p:sp>
        <p:nvSpPr>
          <p:cNvPr id="80" name="Shape 78"/>
          <p:cNvSpPr/>
          <p:nvPr/>
        </p:nvSpPr>
        <p:spPr>
          <a:xfrm>
            <a:off x="1024128" y="4416552"/>
            <a:ext cx="658368" cy="65836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60704" y="4453128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33</a:t>
            </a:r>
            <a:endParaRPr lang="en-US" sz="650" dirty="0"/>
          </a:p>
        </p:txBody>
      </p:sp>
      <p:sp>
        <p:nvSpPr>
          <p:cNvPr id="82" name="Shape 80"/>
          <p:cNvSpPr/>
          <p:nvPr/>
        </p:nvSpPr>
        <p:spPr>
          <a:xfrm>
            <a:off x="1682496" y="4416552"/>
            <a:ext cx="658368" cy="658368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719072" y="4453128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34</a:t>
            </a:r>
            <a:endParaRPr lang="en-US" sz="650" dirty="0"/>
          </a:p>
        </p:txBody>
      </p:sp>
      <p:sp>
        <p:nvSpPr>
          <p:cNvPr id="84" name="Shape 82"/>
          <p:cNvSpPr/>
          <p:nvPr/>
        </p:nvSpPr>
        <p:spPr>
          <a:xfrm>
            <a:off x="2340864" y="4416552"/>
            <a:ext cx="658368" cy="65836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377440" y="4453128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35</a:t>
            </a:r>
            <a:endParaRPr lang="en-US" sz="650" dirty="0"/>
          </a:p>
        </p:txBody>
      </p:sp>
      <p:sp>
        <p:nvSpPr>
          <p:cNvPr id="86" name="Shape 84"/>
          <p:cNvSpPr/>
          <p:nvPr/>
        </p:nvSpPr>
        <p:spPr>
          <a:xfrm>
            <a:off x="2999232" y="4416552"/>
            <a:ext cx="658368" cy="658368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035808" y="4453128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36</a:t>
            </a:r>
            <a:endParaRPr lang="en-US" sz="650" dirty="0"/>
          </a:p>
        </p:txBody>
      </p:sp>
      <p:sp>
        <p:nvSpPr>
          <p:cNvPr id="88" name="Shape 86"/>
          <p:cNvSpPr/>
          <p:nvPr/>
        </p:nvSpPr>
        <p:spPr>
          <a:xfrm>
            <a:off x="3657600" y="4416552"/>
            <a:ext cx="658368" cy="65836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694176" y="4453128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37</a:t>
            </a:r>
            <a:endParaRPr lang="en-US" sz="650" dirty="0"/>
          </a:p>
        </p:txBody>
      </p:sp>
      <p:sp>
        <p:nvSpPr>
          <p:cNvPr id="90" name="Shape 88"/>
          <p:cNvSpPr/>
          <p:nvPr/>
        </p:nvSpPr>
        <p:spPr>
          <a:xfrm>
            <a:off x="4315968" y="4416552"/>
            <a:ext cx="658368" cy="658368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52544" y="4453128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38</a:t>
            </a:r>
            <a:endParaRPr lang="en-US" sz="650" dirty="0"/>
          </a:p>
        </p:txBody>
      </p:sp>
      <p:sp>
        <p:nvSpPr>
          <p:cNvPr id="92" name="Shape 90"/>
          <p:cNvSpPr/>
          <p:nvPr/>
        </p:nvSpPr>
        <p:spPr>
          <a:xfrm>
            <a:off x="4974336" y="4416552"/>
            <a:ext cx="658368" cy="65836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5010912" y="4453128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39</a:t>
            </a:r>
            <a:endParaRPr lang="en-US" sz="650" dirty="0"/>
          </a:p>
        </p:txBody>
      </p:sp>
      <p:sp>
        <p:nvSpPr>
          <p:cNvPr id="94" name="Shape 92"/>
          <p:cNvSpPr/>
          <p:nvPr/>
        </p:nvSpPr>
        <p:spPr>
          <a:xfrm>
            <a:off x="365760" y="5074920"/>
            <a:ext cx="658368" cy="65836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02336" y="5111496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40</a:t>
            </a:r>
            <a:endParaRPr lang="en-US" sz="650" dirty="0"/>
          </a:p>
        </p:txBody>
      </p:sp>
      <p:sp>
        <p:nvSpPr>
          <p:cNvPr id="96" name="Shape 94"/>
          <p:cNvSpPr/>
          <p:nvPr/>
        </p:nvSpPr>
        <p:spPr>
          <a:xfrm>
            <a:off x="1024128" y="5074920"/>
            <a:ext cx="658368" cy="658368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060704" y="5111496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41</a:t>
            </a:r>
            <a:endParaRPr lang="en-US" sz="650" dirty="0"/>
          </a:p>
        </p:txBody>
      </p:sp>
      <p:sp>
        <p:nvSpPr>
          <p:cNvPr id="98" name="Shape 96"/>
          <p:cNvSpPr/>
          <p:nvPr/>
        </p:nvSpPr>
        <p:spPr>
          <a:xfrm>
            <a:off x="1682496" y="5074920"/>
            <a:ext cx="658368" cy="65836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1719072" y="5111496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42</a:t>
            </a:r>
            <a:endParaRPr lang="en-US" sz="650" dirty="0"/>
          </a:p>
        </p:txBody>
      </p:sp>
      <p:sp>
        <p:nvSpPr>
          <p:cNvPr id="100" name="Shape 98"/>
          <p:cNvSpPr/>
          <p:nvPr/>
        </p:nvSpPr>
        <p:spPr>
          <a:xfrm>
            <a:off x="2340864" y="5074920"/>
            <a:ext cx="658368" cy="658368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2377440" y="5111496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43</a:t>
            </a:r>
            <a:endParaRPr lang="en-US" sz="650" dirty="0"/>
          </a:p>
        </p:txBody>
      </p:sp>
      <p:sp>
        <p:nvSpPr>
          <p:cNvPr id="102" name="Shape 100"/>
          <p:cNvSpPr/>
          <p:nvPr/>
        </p:nvSpPr>
        <p:spPr>
          <a:xfrm>
            <a:off x="2999232" y="5074920"/>
            <a:ext cx="658368" cy="65836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035808" y="5111496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44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3657600" y="5074920"/>
            <a:ext cx="658368" cy="658368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3694176" y="5111496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45</a:t>
            </a:r>
            <a:endParaRPr lang="en-US" sz="650" dirty="0"/>
          </a:p>
        </p:txBody>
      </p:sp>
      <p:sp>
        <p:nvSpPr>
          <p:cNvPr id="106" name="Shape 104"/>
          <p:cNvSpPr/>
          <p:nvPr/>
        </p:nvSpPr>
        <p:spPr>
          <a:xfrm>
            <a:off x="4315968" y="5074920"/>
            <a:ext cx="658368" cy="65836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352544" y="5111496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46</a:t>
            </a:r>
            <a:endParaRPr lang="en-US" sz="650" dirty="0"/>
          </a:p>
        </p:txBody>
      </p:sp>
      <p:sp>
        <p:nvSpPr>
          <p:cNvPr id="108" name="Shape 106"/>
          <p:cNvSpPr/>
          <p:nvPr/>
        </p:nvSpPr>
        <p:spPr>
          <a:xfrm>
            <a:off x="4974336" y="5074920"/>
            <a:ext cx="658368" cy="658368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010912" y="5111496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47</a:t>
            </a:r>
            <a:endParaRPr lang="en-US" sz="650" dirty="0"/>
          </a:p>
        </p:txBody>
      </p:sp>
      <p:sp>
        <p:nvSpPr>
          <p:cNvPr id="110" name="Shape 108"/>
          <p:cNvSpPr/>
          <p:nvPr/>
        </p:nvSpPr>
        <p:spPr>
          <a:xfrm>
            <a:off x="365760" y="5733288"/>
            <a:ext cx="658368" cy="658368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402336" y="5769864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48</a:t>
            </a:r>
            <a:endParaRPr lang="en-US" sz="650" dirty="0"/>
          </a:p>
        </p:txBody>
      </p:sp>
      <p:sp>
        <p:nvSpPr>
          <p:cNvPr id="112" name="Shape 110"/>
          <p:cNvSpPr/>
          <p:nvPr/>
        </p:nvSpPr>
        <p:spPr>
          <a:xfrm>
            <a:off x="1024128" y="5733288"/>
            <a:ext cx="658368" cy="65836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1060704" y="5769864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49</a:t>
            </a:r>
            <a:endParaRPr lang="en-US" sz="650" dirty="0"/>
          </a:p>
        </p:txBody>
      </p:sp>
      <p:sp>
        <p:nvSpPr>
          <p:cNvPr id="114" name="Shape 112"/>
          <p:cNvSpPr/>
          <p:nvPr/>
        </p:nvSpPr>
        <p:spPr>
          <a:xfrm>
            <a:off x="1682496" y="5733288"/>
            <a:ext cx="658368" cy="658368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1719072" y="5769864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50</a:t>
            </a:r>
            <a:endParaRPr lang="en-US" sz="650" dirty="0"/>
          </a:p>
        </p:txBody>
      </p:sp>
      <p:sp>
        <p:nvSpPr>
          <p:cNvPr id="116" name="Shape 114"/>
          <p:cNvSpPr/>
          <p:nvPr/>
        </p:nvSpPr>
        <p:spPr>
          <a:xfrm>
            <a:off x="2340864" y="5733288"/>
            <a:ext cx="658368" cy="65836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2377440" y="5769864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51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2999232" y="5733288"/>
            <a:ext cx="658368" cy="658368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3035808" y="5769864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52</a:t>
            </a:r>
            <a:endParaRPr lang="en-US" sz="650" dirty="0"/>
          </a:p>
        </p:txBody>
      </p:sp>
      <p:sp>
        <p:nvSpPr>
          <p:cNvPr id="120" name="Shape 118"/>
          <p:cNvSpPr/>
          <p:nvPr/>
        </p:nvSpPr>
        <p:spPr>
          <a:xfrm>
            <a:off x="3657600" y="5733288"/>
            <a:ext cx="658368" cy="65836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3694176" y="5769864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53</a:t>
            </a:r>
            <a:endParaRPr lang="en-US" sz="650" dirty="0"/>
          </a:p>
        </p:txBody>
      </p:sp>
      <p:sp>
        <p:nvSpPr>
          <p:cNvPr id="122" name="Shape 120"/>
          <p:cNvSpPr/>
          <p:nvPr/>
        </p:nvSpPr>
        <p:spPr>
          <a:xfrm>
            <a:off x="4315968" y="5733288"/>
            <a:ext cx="658368" cy="658368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352544" y="5769864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54</a:t>
            </a:r>
            <a:endParaRPr lang="en-US" sz="650" dirty="0"/>
          </a:p>
        </p:txBody>
      </p:sp>
      <p:sp>
        <p:nvSpPr>
          <p:cNvPr id="124" name="Shape 122"/>
          <p:cNvSpPr/>
          <p:nvPr/>
        </p:nvSpPr>
        <p:spPr>
          <a:xfrm>
            <a:off x="4974336" y="5733288"/>
            <a:ext cx="658368" cy="65836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5010912" y="5769864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55</a:t>
            </a:r>
            <a:endParaRPr lang="en-US" sz="650" dirty="0"/>
          </a:p>
        </p:txBody>
      </p:sp>
      <p:sp>
        <p:nvSpPr>
          <p:cNvPr id="126" name="Shape 124"/>
          <p:cNvSpPr/>
          <p:nvPr/>
        </p:nvSpPr>
        <p:spPr>
          <a:xfrm>
            <a:off x="365760" y="6391656"/>
            <a:ext cx="658368" cy="65836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402336" y="6428232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56</a:t>
            </a:r>
            <a:endParaRPr lang="en-US" sz="650" dirty="0"/>
          </a:p>
        </p:txBody>
      </p:sp>
      <p:sp>
        <p:nvSpPr>
          <p:cNvPr id="128" name="Shape 126"/>
          <p:cNvSpPr/>
          <p:nvPr/>
        </p:nvSpPr>
        <p:spPr>
          <a:xfrm>
            <a:off x="1024128" y="6391656"/>
            <a:ext cx="658368" cy="658368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1060704" y="6428232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57</a:t>
            </a:r>
            <a:endParaRPr lang="en-US" sz="650" dirty="0"/>
          </a:p>
        </p:txBody>
      </p:sp>
      <p:sp>
        <p:nvSpPr>
          <p:cNvPr id="130" name="Shape 128"/>
          <p:cNvSpPr/>
          <p:nvPr/>
        </p:nvSpPr>
        <p:spPr>
          <a:xfrm>
            <a:off x="1682496" y="6391656"/>
            <a:ext cx="658368" cy="65836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1719072" y="6428232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58</a:t>
            </a:r>
            <a:endParaRPr lang="en-US" sz="650" dirty="0"/>
          </a:p>
        </p:txBody>
      </p:sp>
      <p:sp>
        <p:nvSpPr>
          <p:cNvPr id="132" name="Shape 130"/>
          <p:cNvSpPr/>
          <p:nvPr/>
        </p:nvSpPr>
        <p:spPr>
          <a:xfrm>
            <a:off x="2340864" y="6391656"/>
            <a:ext cx="658368" cy="658368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2377440" y="6428232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59</a:t>
            </a:r>
            <a:endParaRPr lang="en-US" sz="650" dirty="0"/>
          </a:p>
        </p:txBody>
      </p:sp>
      <p:sp>
        <p:nvSpPr>
          <p:cNvPr id="134" name="Shape 132"/>
          <p:cNvSpPr/>
          <p:nvPr/>
        </p:nvSpPr>
        <p:spPr>
          <a:xfrm>
            <a:off x="2999232" y="6391656"/>
            <a:ext cx="658368" cy="65836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3035808" y="6428232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60</a:t>
            </a:r>
            <a:endParaRPr lang="en-US" sz="650" dirty="0"/>
          </a:p>
        </p:txBody>
      </p:sp>
      <p:sp>
        <p:nvSpPr>
          <p:cNvPr id="136" name="Shape 134"/>
          <p:cNvSpPr/>
          <p:nvPr/>
        </p:nvSpPr>
        <p:spPr>
          <a:xfrm>
            <a:off x="3657600" y="6391656"/>
            <a:ext cx="658368" cy="658368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3694176" y="6428232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61</a:t>
            </a:r>
            <a:endParaRPr lang="en-US" sz="650" dirty="0"/>
          </a:p>
        </p:txBody>
      </p:sp>
      <p:sp>
        <p:nvSpPr>
          <p:cNvPr id="138" name="Shape 136"/>
          <p:cNvSpPr/>
          <p:nvPr/>
        </p:nvSpPr>
        <p:spPr>
          <a:xfrm>
            <a:off x="4315968" y="6391656"/>
            <a:ext cx="658368" cy="65836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4352544" y="6428232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62</a:t>
            </a:r>
            <a:endParaRPr lang="en-US" sz="650" dirty="0"/>
          </a:p>
        </p:txBody>
      </p:sp>
      <p:sp>
        <p:nvSpPr>
          <p:cNvPr id="140" name="Shape 138"/>
          <p:cNvSpPr/>
          <p:nvPr/>
        </p:nvSpPr>
        <p:spPr>
          <a:xfrm>
            <a:off x="4974336" y="6391656"/>
            <a:ext cx="658368" cy="658368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5010912" y="6428232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30363D"/>
                </a:solidFill>
              </a:rPr>
              <a:t>63</a:t>
            </a:r>
            <a:endParaRPr lang="en-US" sz="650" dirty="0"/>
          </a:p>
        </p:txBody>
      </p:sp>
      <p:sp>
        <p:nvSpPr>
          <p:cNvPr id="142" name="Text 140"/>
          <p:cNvSpPr/>
          <p:nvPr/>
        </p:nvSpPr>
        <p:spPr>
          <a:xfrm>
            <a:off x="365760" y="70866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a</a:t>
            </a:r>
            <a:endParaRPr lang="en-US" sz="1000" dirty="0"/>
          </a:p>
        </p:txBody>
      </p:sp>
      <p:sp>
        <p:nvSpPr>
          <p:cNvPr id="143" name="Text 141"/>
          <p:cNvSpPr/>
          <p:nvPr/>
        </p:nvSpPr>
        <p:spPr>
          <a:xfrm>
            <a:off x="1024128" y="70866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b</a:t>
            </a:r>
            <a:endParaRPr lang="en-US" sz="1000" dirty="0"/>
          </a:p>
        </p:txBody>
      </p:sp>
      <p:sp>
        <p:nvSpPr>
          <p:cNvPr id="144" name="Text 142"/>
          <p:cNvSpPr/>
          <p:nvPr/>
        </p:nvSpPr>
        <p:spPr>
          <a:xfrm>
            <a:off x="1682496" y="70866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c</a:t>
            </a:r>
            <a:endParaRPr lang="en-US" sz="1000" dirty="0"/>
          </a:p>
        </p:txBody>
      </p:sp>
      <p:sp>
        <p:nvSpPr>
          <p:cNvPr id="145" name="Text 143"/>
          <p:cNvSpPr/>
          <p:nvPr/>
        </p:nvSpPr>
        <p:spPr>
          <a:xfrm>
            <a:off x="2340864" y="70866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d</a:t>
            </a:r>
            <a:endParaRPr lang="en-US" sz="1000" dirty="0"/>
          </a:p>
        </p:txBody>
      </p:sp>
      <p:sp>
        <p:nvSpPr>
          <p:cNvPr id="146" name="Text 144"/>
          <p:cNvSpPr/>
          <p:nvPr/>
        </p:nvSpPr>
        <p:spPr>
          <a:xfrm>
            <a:off x="2999232" y="70866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e</a:t>
            </a:r>
            <a:endParaRPr lang="en-US" sz="1000" dirty="0"/>
          </a:p>
        </p:txBody>
      </p:sp>
      <p:sp>
        <p:nvSpPr>
          <p:cNvPr id="147" name="Text 145"/>
          <p:cNvSpPr/>
          <p:nvPr/>
        </p:nvSpPr>
        <p:spPr>
          <a:xfrm>
            <a:off x="3657600" y="70866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f</a:t>
            </a:r>
            <a:endParaRPr lang="en-US" sz="1000" dirty="0"/>
          </a:p>
        </p:txBody>
      </p:sp>
      <p:sp>
        <p:nvSpPr>
          <p:cNvPr id="148" name="Text 146"/>
          <p:cNvSpPr/>
          <p:nvPr/>
        </p:nvSpPr>
        <p:spPr>
          <a:xfrm>
            <a:off x="4315968" y="70866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g</a:t>
            </a:r>
            <a:endParaRPr lang="en-US" sz="1000" dirty="0"/>
          </a:p>
        </p:txBody>
      </p:sp>
      <p:sp>
        <p:nvSpPr>
          <p:cNvPr id="149" name="Text 147"/>
          <p:cNvSpPr/>
          <p:nvPr/>
        </p:nvSpPr>
        <p:spPr>
          <a:xfrm>
            <a:off x="4974336" y="70866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h</a:t>
            </a:r>
            <a:endParaRPr lang="en-US" sz="1000" dirty="0"/>
          </a:p>
        </p:txBody>
      </p:sp>
      <p:sp>
        <p:nvSpPr>
          <p:cNvPr id="150" name="Text 148"/>
          <p:cNvSpPr/>
          <p:nvPr/>
        </p:nvSpPr>
        <p:spPr>
          <a:xfrm>
            <a:off x="137160" y="1783080"/>
            <a:ext cx="2011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8</a:t>
            </a:r>
            <a:endParaRPr lang="en-US" sz="1000" dirty="0"/>
          </a:p>
        </p:txBody>
      </p:sp>
      <p:sp>
        <p:nvSpPr>
          <p:cNvPr id="151" name="Text 149"/>
          <p:cNvSpPr/>
          <p:nvPr/>
        </p:nvSpPr>
        <p:spPr>
          <a:xfrm>
            <a:off x="137160" y="2441448"/>
            <a:ext cx="2011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7</a:t>
            </a:r>
            <a:endParaRPr lang="en-US" sz="1000" dirty="0"/>
          </a:p>
        </p:txBody>
      </p:sp>
      <p:sp>
        <p:nvSpPr>
          <p:cNvPr id="152" name="Text 150"/>
          <p:cNvSpPr/>
          <p:nvPr/>
        </p:nvSpPr>
        <p:spPr>
          <a:xfrm>
            <a:off x="137160" y="3099816"/>
            <a:ext cx="2011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6</a:t>
            </a:r>
            <a:endParaRPr lang="en-US" sz="1000" dirty="0"/>
          </a:p>
        </p:txBody>
      </p:sp>
      <p:sp>
        <p:nvSpPr>
          <p:cNvPr id="153" name="Text 151"/>
          <p:cNvSpPr/>
          <p:nvPr/>
        </p:nvSpPr>
        <p:spPr>
          <a:xfrm>
            <a:off x="137160" y="3758184"/>
            <a:ext cx="2011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5</a:t>
            </a:r>
            <a:endParaRPr lang="en-US" sz="1000" dirty="0"/>
          </a:p>
        </p:txBody>
      </p:sp>
      <p:sp>
        <p:nvSpPr>
          <p:cNvPr id="154" name="Text 152"/>
          <p:cNvSpPr/>
          <p:nvPr/>
        </p:nvSpPr>
        <p:spPr>
          <a:xfrm>
            <a:off x="137160" y="4416552"/>
            <a:ext cx="2011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4</a:t>
            </a:r>
            <a:endParaRPr lang="en-US" sz="1000" dirty="0"/>
          </a:p>
        </p:txBody>
      </p:sp>
      <p:sp>
        <p:nvSpPr>
          <p:cNvPr id="155" name="Text 153"/>
          <p:cNvSpPr/>
          <p:nvPr/>
        </p:nvSpPr>
        <p:spPr>
          <a:xfrm>
            <a:off x="137160" y="5074920"/>
            <a:ext cx="2011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3</a:t>
            </a:r>
            <a:endParaRPr lang="en-US" sz="1000" dirty="0"/>
          </a:p>
        </p:txBody>
      </p:sp>
      <p:sp>
        <p:nvSpPr>
          <p:cNvPr id="156" name="Text 154"/>
          <p:cNvSpPr/>
          <p:nvPr/>
        </p:nvSpPr>
        <p:spPr>
          <a:xfrm>
            <a:off x="137160" y="5733288"/>
            <a:ext cx="2011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2</a:t>
            </a:r>
            <a:endParaRPr lang="en-US" sz="1000" dirty="0"/>
          </a:p>
        </p:txBody>
      </p:sp>
      <p:sp>
        <p:nvSpPr>
          <p:cNvPr id="157" name="Text 155"/>
          <p:cNvSpPr/>
          <p:nvPr/>
        </p:nvSpPr>
        <p:spPr>
          <a:xfrm>
            <a:off x="137160" y="6391656"/>
            <a:ext cx="2011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1</a:t>
            </a:r>
            <a:endParaRPr lang="en-US" sz="1000" dirty="0"/>
          </a:p>
        </p:txBody>
      </p:sp>
      <p:sp>
        <p:nvSpPr>
          <p:cNvPr id="158" name="Shape 156"/>
          <p:cNvSpPr/>
          <p:nvPr/>
        </p:nvSpPr>
        <p:spPr>
          <a:xfrm>
            <a:off x="5852160" y="1783080"/>
            <a:ext cx="6217920" cy="5120640"/>
          </a:xfrm>
          <a:prstGeom prst="roundRect">
            <a:avLst>
              <a:gd name="adj" fmla="val 142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6126480" y="1920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781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White Pawns Bitboard</a:t>
            </a:r>
            <a:endParaRPr lang="en-US" sz="1400" dirty="0"/>
          </a:p>
        </p:txBody>
      </p:sp>
      <p:sp>
        <p:nvSpPr>
          <p:cNvPr id="160" name="Text 158"/>
          <p:cNvSpPr/>
          <p:nvPr/>
        </p:nvSpPr>
        <p:spPr>
          <a:xfrm>
            <a:off x="6126480" y="2176272"/>
            <a:ext cx="5303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Starting position — pawns on rank 2 (bits 8–15)</a:t>
            </a:r>
            <a:endParaRPr lang="en-US" sz="1100" dirty="0"/>
          </a:p>
        </p:txBody>
      </p:sp>
      <p:sp>
        <p:nvSpPr>
          <p:cNvPr id="161" name="Shape 159"/>
          <p:cNvSpPr/>
          <p:nvPr/>
        </p:nvSpPr>
        <p:spPr>
          <a:xfrm>
            <a:off x="5989320" y="2468880"/>
            <a:ext cx="6035040" cy="182880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989320" y="2468880"/>
            <a:ext cx="54864" cy="1828800"/>
          </a:xfrm>
          <a:prstGeom prst="rect">
            <a:avLst/>
          </a:prstGeom>
          <a:solidFill>
            <a:srgbClr val="79C0FF"/>
          </a:solidFill>
          <a:ln w="12700">
            <a:solidFill>
              <a:srgbClr val="79C0FF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6099048" y="2468880"/>
            <a:ext cx="5907024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ulong whitePawns =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0b00000000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00000000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00000000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00000000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00000000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00000000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11111111  ← rank 2 (set)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00000000;</a:t>
            </a:r>
            <a:endParaRPr lang="en-US" sz="1050" dirty="0"/>
          </a:p>
        </p:txBody>
      </p:sp>
      <p:sp>
        <p:nvSpPr>
          <p:cNvPr id="164" name="Text 162"/>
          <p:cNvSpPr/>
          <p:nvPr/>
        </p:nvSpPr>
        <p:spPr>
          <a:xfrm>
            <a:off x="6126480" y="437083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Decimal value:  65,280</a:t>
            </a:r>
            <a:endParaRPr lang="en-US" sz="1100" dirty="0"/>
          </a:p>
        </p:txBody>
      </p:sp>
      <p:sp>
        <p:nvSpPr>
          <p:cNvPr id="165" name="Shape 163"/>
          <p:cNvSpPr/>
          <p:nvPr/>
        </p:nvSpPr>
        <p:spPr>
          <a:xfrm>
            <a:off x="6126480" y="4800600"/>
            <a:ext cx="256032" cy="256032"/>
          </a:xfrm>
          <a:prstGeom prst="rect">
            <a:avLst/>
          </a:prstGeom>
          <a:solidFill>
            <a:srgbClr val="F78166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6455664" y="4773168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Bit SET (1)</a:t>
            </a:r>
            <a:endParaRPr lang="en-US" sz="1100" dirty="0"/>
          </a:p>
        </p:txBody>
      </p:sp>
      <p:sp>
        <p:nvSpPr>
          <p:cNvPr id="167" name="Shape 165"/>
          <p:cNvSpPr/>
          <p:nvPr/>
        </p:nvSpPr>
        <p:spPr>
          <a:xfrm>
            <a:off x="8686800" y="4800600"/>
            <a:ext cx="256032" cy="256032"/>
          </a:xfrm>
          <a:prstGeom prst="rect">
            <a:avLst/>
          </a:prstGeom>
          <a:solidFill>
            <a:srgbClr val="21262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9015984" y="4773168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Bit CLEAR (0)</a:t>
            </a:r>
            <a:endParaRPr lang="en-US" sz="1100" dirty="0"/>
          </a:p>
        </p:txBody>
      </p:sp>
      <p:sp>
        <p:nvSpPr>
          <p:cNvPr id="169" name="Text 167"/>
          <p:cNvSpPr/>
          <p:nvPr/>
        </p:nvSpPr>
        <p:spPr>
          <a:xfrm>
            <a:off x="6126480" y="5138928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engine has 12 of these bitboards — one per piece type per colour.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12 Bitboards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694944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piece type for both colours gets its own 64-bit integer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11430000" cy="22860"/>
          </a:xfrm>
          <a:prstGeom prst="rect">
            <a:avLst/>
          </a:prstGeom>
          <a:solidFill>
            <a:srgbClr val="F78166"/>
          </a:solidFill>
          <a:ln w="12700">
            <a:solidFill>
              <a:srgbClr val="F781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34440"/>
            <a:ext cx="3794760" cy="1152144"/>
          </a:xfrm>
          <a:prstGeom prst="roundRect">
            <a:avLst>
              <a:gd name="adj" fmla="val 634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1325880"/>
            <a:ext cx="685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F78166"/>
                </a:solidFill>
              </a:rPr>
              <a:t>♙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234440" y="137160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781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WhitePawns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34440" y="1691640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0x000000000000FF00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234440" y="19659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0" name="Shape 8"/>
          <p:cNvSpPr/>
          <p:nvPr/>
        </p:nvSpPr>
        <p:spPr>
          <a:xfrm>
            <a:off x="1339596" y="19659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1" name="Shape 9"/>
          <p:cNvSpPr/>
          <p:nvPr/>
        </p:nvSpPr>
        <p:spPr>
          <a:xfrm>
            <a:off x="1444752" y="19659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2" name="Shape 10"/>
          <p:cNvSpPr/>
          <p:nvPr/>
        </p:nvSpPr>
        <p:spPr>
          <a:xfrm>
            <a:off x="1549908" y="19659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3" name="Shape 11"/>
          <p:cNvSpPr/>
          <p:nvPr/>
        </p:nvSpPr>
        <p:spPr>
          <a:xfrm>
            <a:off x="1655064" y="19659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4" name="Shape 12"/>
          <p:cNvSpPr/>
          <p:nvPr/>
        </p:nvSpPr>
        <p:spPr>
          <a:xfrm>
            <a:off x="1760220" y="19659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5" name="Shape 13"/>
          <p:cNvSpPr/>
          <p:nvPr/>
        </p:nvSpPr>
        <p:spPr>
          <a:xfrm>
            <a:off x="1865376" y="19659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6" name="Shape 14"/>
          <p:cNvSpPr/>
          <p:nvPr/>
        </p:nvSpPr>
        <p:spPr>
          <a:xfrm>
            <a:off x="1970532" y="19659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7" name="Shape 15"/>
          <p:cNvSpPr/>
          <p:nvPr/>
        </p:nvSpPr>
        <p:spPr>
          <a:xfrm>
            <a:off x="1234440" y="20098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8" name="Shape 16"/>
          <p:cNvSpPr/>
          <p:nvPr/>
        </p:nvSpPr>
        <p:spPr>
          <a:xfrm>
            <a:off x="1339596" y="20098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9" name="Shape 17"/>
          <p:cNvSpPr/>
          <p:nvPr/>
        </p:nvSpPr>
        <p:spPr>
          <a:xfrm>
            <a:off x="1444752" y="20098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0" name="Shape 18"/>
          <p:cNvSpPr/>
          <p:nvPr/>
        </p:nvSpPr>
        <p:spPr>
          <a:xfrm>
            <a:off x="1549908" y="20098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1" name="Shape 19"/>
          <p:cNvSpPr/>
          <p:nvPr/>
        </p:nvSpPr>
        <p:spPr>
          <a:xfrm>
            <a:off x="1655064" y="20098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2" name="Shape 20"/>
          <p:cNvSpPr/>
          <p:nvPr/>
        </p:nvSpPr>
        <p:spPr>
          <a:xfrm>
            <a:off x="1760220" y="20098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3" name="Shape 21"/>
          <p:cNvSpPr/>
          <p:nvPr/>
        </p:nvSpPr>
        <p:spPr>
          <a:xfrm>
            <a:off x="1865376" y="20098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4" name="Shape 22"/>
          <p:cNvSpPr/>
          <p:nvPr/>
        </p:nvSpPr>
        <p:spPr>
          <a:xfrm>
            <a:off x="1970532" y="20098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5" name="Shape 23"/>
          <p:cNvSpPr/>
          <p:nvPr/>
        </p:nvSpPr>
        <p:spPr>
          <a:xfrm>
            <a:off x="1234440" y="20537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6" name="Shape 24"/>
          <p:cNvSpPr/>
          <p:nvPr/>
        </p:nvSpPr>
        <p:spPr>
          <a:xfrm>
            <a:off x="1339596" y="20537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7" name="Shape 25"/>
          <p:cNvSpPr/>
          <p:nvPr/>
        </p:nvSpPr>
        <p:spPr>
          <a:xfrm>
            <a:off x="1444752" y="20537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8" name="Shape 26"/>
          <p:cNvSpPr/>
          <p:nvPr/>
        </p:nvSpPr>
        <p:spPr>
          <a:xfrm>
            <a:off x="1549908" y="20537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9" name="Shape 27"/>
          <p:cNvSpPr/>
          <p:nvPr/>
        </p:nvSpPr>
        <p:spPr>
          <a:xfrm>
            <a:off x="1655064" y="20537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0" name="Shape 28"/>
          <p:cNvSpPr/>
          <p:nvPr/>
        </p:nvSpPr>
        <p:spPr>
          <a:xfrm>
            <a:off x="1760220" y="20537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1" name="Shape 29"/>
          <p:cNvSpPr/>
          <p:nvPr/>
        </p:nvSpPr>
        <p:spPr>
          <a:xfrm>
            <a:off x="1865376" y="20537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2" name="Shape 30"/>
          <p:cNvSpPr/>
          <p:nvPr/>
        </p:nvSpPr>
        <p:spPr>
          <a:xfrm>
            <a:off x="1970532" y="20537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3" name="Shape 31"/>
          <p:cNvSpPr/>
          <p:nvPr/>
        </p:nvSpPr>
        <p:spPr>
          <a:xfrm>
            <a:off x="1234440" y="209763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4" name="Shape 32"/>
          <p:cNvSpPr/>
          <p:nvPr/>
        </p:nvSpPr>
        <p:spPr>
          <a:xfrm>
            <a:off x="1339596" y="209763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5" name="Shape 33"/>
          <p:cNvSpPr/>
          <p:nvPr/>
        </p:nvSpPr>
        <p:spPr>
          <a:xfrm>
            <a:off x="1444752" y="209763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6" name="Shape 34"/>
          <p:cNvSpPr/>
          <p:nvPr/>
        </p:nvSpPr>
        <p:spPr>
          <a:xfrm>
            <a:off x="1549908" y="209763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7" name="Shape 35"/>
          <p:cNvSpPr/>
          <p:nvPr/>
        </p:nvSpPr>
        <p:spPr>
          <a:xfrm>
            <a:off x="1655064" y="209763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8" name="Shape 36"/>
          <p:cNvSpPr/>
          <p:nvPr/>
        </p:nvSpPr>
        <p:spPr>
          <a:xfrm>
            <a:off x="1760220" y="209763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9" name="Shape 37"/>
          <p:cNvSpPr/>
          <p:nvPr/>
        </p:nvSpPr>
        <p:spPr>
          <a:xfrm>
            <a:off x="1865376" y="209763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0" name="Shape 38"/>
          <p:cNvSpPr/>
          <p:nvPr/>
        </p:nvSpPr>
        <p:spPr>
          <a:xfrm>
            <a:off x="1970532" y="209763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1" name="Shape 39"/>
          <p:cNvSpPr/>
          <p:nvPr/>
        </p:nvSpPr>
        <p:spPr>
          <a:xfrm>
            <a:off x="1234440" y="2141525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2" name="Shape 40"/>
          <p:cNvSpPr/>
          <p:nvPr/>
        </p:nvSpPr>
        <p:spPr>
          <a:xfrm>
            <a:off x="1339596" y="2141525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3" name="Shape 41"/>
          <p:cNvSpPr/>
          <p:nvPr/>
        </p:nvSpPr>
        <p:spPr>
          <a:xfrm>
            <a:off x="1444752" y="2141525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4" name="Shape 42"/>
          <p:cNvSpPr/>
          <p:nvPr/>
        </p:nvSpPr>
        <p:spPr>
          <a:xfrm>
            <a:off x="1549908" y="2141525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5" name="Shape 43"/>
          <p:cNvSpPr/>
          <p:nvPr/>
        </p:nvSpPr>
        <p:spPr>
          <a:xfrm>
            <a:off x="1655064" y="2141525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6" name="Shape 44"/>
          <p:cNvSpPr/>
          <p:nvPr/>
        </p:nvSpPr>
        <p:spPr>
          <a:xfrm>
            <a:off x="1760220" y="2141525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7" name="Shape 45"/>
          <p:cNvSpPr/>
          <p:nvPr/>
        </p:nvSpPr>
        <p:spPr>
          <a:xfrm>
            <a:off x="1865376" y="2141525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8" name="Shape 46"/>
          <p:cNvSpPr/>
          <p:nvPr/>
        </p:nvSpPr>
        <p:spPr>
          <a:xfrm>
            <a:off x="1970532" y="2141525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9" name="Shape 47"/>
          <p:cNvSpPr/>
          <p:nvPr/>
        </p:nvSpPr>
        <p:spPr>
          <a:xfrm>
            <a:off x="1234440" y="218541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0" name="Shape 48"/>
          <p:cNvSpPr/>
          <p:nvPr/>
        </p:nvSpPr>
        <p:spPr>
          <a:xfrm>
            <a:off x="1339596" y="218541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1" name="Shape 49"/>
          <p:cNvSpPr/>
          <p:nvPr/>
        </p:nvSpPr>
        <p:spPr>
          <a:xfrm>
            <a:off x="1444752" y="218541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2" name="Shape 50"/>
          <p:cNvSpPr/>
          <p:nvPr/>
        </p:nvSpPr>
        <p:spPr>
          <a:xfrm>
            <a:off x="1549908" y="218541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3" name="Shape 51"/>
          <p:cNvSpPr/>
          <p:nvPr/>
        </p:nvSpPr>
        <p:spPr>
          <a:xfrm>
            <a:off x="1655064" y="218541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4" name="Shape 52"/>
          <p:cNvSpPr/>
          <p:nvPr/>
        </p:nvSpPr>
        <p:spPr>
          <a:xfrm>
            <a:off x="1760220" y="218541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5" name="Shape 53"/>
          <p:cNvSpPr/>
          <p:nvPr/>
        </p:nvSpPr>
        <p:spPr>
          <a:xfrm>
            <a:off x="1865376" y="218541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6" name="Shape 54"/>
          <p:cNvSpPr/>
          <p:nvPr/>
        </p:nvSpPr>
        <p:spPr>
          <a:xfrm>
            <a:off x="1970532" y="218541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7" name="Shape 55"/>
          <p:cNvSpPr/>
          <p:nvPr/>
        </p:nvSpPr>
        <p:spPr>
          <a:xfrm>
            <a:off x="1234440" y="2229307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58" name="Shape 56"/>
          <p:cNvSpPr/>
          <p:nvPr/>
        </p:nvSpPr>
        <p:spPr>
          <a:xfrm>
            <a:off x="1339596" y="2229307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59" name="Shape 57"/>
          <p:cNvSpPr/>
          <p:nvPr/>
        </p:nvSpPr>
        <p:spPr>
          <a:xfrm>
            <a:off x="1444752" y="2229307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60" name="Shape 58"/>
          <p:cNvSpPr/>
          <p:nvPr/>
        </p:nvSpPr>
        <p:spPr>
          <a:xfrm>
            <a:off x="1549908" y="2229307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61" name="Shape 59"/>
          <p:cNvSpPr/>
          <p:nvPr/>
        </p:nvSpPr>
        <p:spPr>
          <a:xfrm>
            <a:off x="1655064" y="2229307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62" name="Shape 60"/>
          <p:cNvSpPr/>
          <p:nvPr/>
        </p:nvSpPr>
        <p:spPr>
          <a:xfrm>
            <a:off x="1760220" y="2229307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63" name="Shape 61"/>
          <p:cNvSpPr/>
          <p:nvPr/>
        </p:nvSpPr>
        <p:spPr>
          <a:xfrm>
            <a:off x="1865376" y="2229307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64" name="Shape 62"/>
          <p:cNvSpPr/>
          <p:nvPr/>
        </p:nvSpPr>
        <p:spPr>
          <a:xfrm>
            <a:off x="1970532" y="2229307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65" name="Shape 63"/>
          <p:cNvSpPr/>
          <p:nvPr/>
        </p:nvSpPr>
        <p:spPr>
          <a:xfrm>
            <a:off x="1234440" y="227319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6" name="Shape 64"/>
          <p:cNvSpPr/>
          <p:nvPr/>
        </p:nvSpPr>
        <p:spPr>
          <a:xfrm>
            <a:off x="1339596" y="227319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7" name="Shape 65"/>
          <p:cNvSpPr/>
          <p:nvPr/>
        </p:nvSpPr>
        <p:spPr>
          <a:xfrm>
            <a:off x="1444752" y="227319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8" name="Shape 66"/>
          <p:cNvSpPr/>
          <p:nvPr/>
        </p:nvSpPr>
        <p:spPr>
          <a:xfrm>
            <a:off x="1549908" y="227319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9" name="Shape 67"/>
          <p:cNvSpPr/>
          <p:nvPr/>
        </p:nvSpPr>
        <p:spPr>
          <a:xfrm>
            <a:off x="1655064" y="227319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0" name="Shape 68"/>
          <p:cNvSpPr/>
          <p:nvPr/>
        </p:nvSpPr>
        <p:spPr>
          <a:xfrm>
            <a:off x="1760220" y="227319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1" name="Shape 69"/>
          <p:cNvSpPr/>
          <p:nvPr/>
        </p:nvSpPr>
        <p:spPr>
          <a:xfrm>
            <a:off x="1865376" y="227319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2" name="Shape 70"/>
          <p:cNvSpPr/>
          <p:nvPr/>
        </p:nvSpPr>
        <p:spPr>
          <a:xfrm>
            <a:off x="1970532" y="227319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3" name="Shape 71"/>
          <p:cNvSpPr/>
          <p:nvPr/>
        </p:nvSpPr>
        <p:spPr>
          <a:xfrm>
            <a:off x="4343400" y="1234440"/>
            <a:ext cx="3794760" cy="1152144"/>
          </a:xfrm>
          <a:prstGeom prst="roundRect">
            <a:avLst>
              <a:gd name="adj" fmla="val 634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453128" y="1325880"/>
            <a:ext cx="685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F78166"/>
                </a:solidFill>
              </a:rPr>
              <a:t>♘</a:t>
            </a:r>
            <a:endParaRPr lang="en-US" sz="3800" dirty="0"/>
          </a:p>
        </p:txBody>
      </p:sp>
      <p:sp>
        <p:nvSpPr>
          <p:cNvPr id="75" name="Text 73"/>
          <p:cNvSpPr/>
          <p:nvPr/>
        </p:nvSpPr>
        <p:spPr>
          <a:xfrm>
            <a:off x="5212080" y="137160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781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WhiteKnights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5212080" y="1691640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0x0000000000000042</a:t>
            </a:r>
            <a:endParaRPr lang="en-US" sz="950" dirty="0"/>
          </a:p>
        </p:txBody>
      </p:sp>
      <p:sp>
        <p:nvSpPr>
          <p:cNvPr id="77" name="Shape 75"/>
          <p:cNvSpPr/>
          <p:nvPr/>
        </p:nvSpPr>
        <p:spPr>
          <a:xfrm>
            <a:off x="5212080" y="19659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8" name="Shape 76"/>
          <p:cNvSpPr/>
          <p:nvPr/>
        </p:nvSpPr>
        <p:spPr>
          <a:xfrm>
            <a:off x="5317236" y="19659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9" name="Shape 77"/>
          <p:cNvSpPr/>
          <p:nvPr/>
        </p:nvSpPr>
        <p:spPr>
          <a:xfrm>
            <a:off x="5422392" y="19659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80" name="Shape 78"/>
          <p:cNvSpPr/>
          <p:nvPr/>
        </p:nvSpPr>
        <p:spPr>
          <a:xfrm>
            <a:off x="5527548" y="19659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81" name="Shape 79"/>
          <p:cNvSpPr/>
          <p:nvPr/>
        </p:nvSpPr>
        <p:spPr>
          <a:xfrm>
            <a:off x="5632704" y="19659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82" name="Shape 80"/>
          <p:cNvSpPr/>
          <p:nvPr/>
        </p:nvSpPr>
        <p:spPr>
          <a:xfrm>
            <a:off x="5737860" y="19659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83" name="Shape 81"/>
          <p:cNvSpPr/>
          <p:nvPr/>
        </p:nvSpPr>
        <p:spPr>
          <a:xfrm>
            <a:off x="5843016" y="19659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84" name="Shape 82"/>
          <p:cNvSpPr/>
          <p:nvPr/>
        </p:nvSpPr>
        <p:spPr>
          <a:xfrm>
            <a:off x="5948172" y="19659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85" name="Shape 83"/>
          <p:cNvSpPr/>
          <p:nvPr/>
        </p:nvSpPr>
        <p:spPr>
          <a:xfrm>
            <a:off x="5212080" y="20098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86" name="Shape 84"/>
          <p:cNvSpPr/>
          <p:nvPr/>
        </p:nvSpPr>
        <p:spPr>
          <a:xfrm>
            <a:off x="5317236" y="20098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87" name="Shape 85"/>
          <p:cNvSpPr/>
          <p:nvPr/>
        </p:nvSpPr>
        <p:spPr>
          <a:xfrm>
            <a:off x="5422392" y="20098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88" name="Shape 86"/>
          <p:cNvSpPr/>
          <p:nvPr/>
        </p:nvSpPr>
        <p:spPr>
          <a:xfrm>
            <a:off x="5527548" y="20098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89" name="Shape 87"/>
          <p:cNvSpPr/>
          <p:nvPr/>
        </p:nvSpPr>
        <p:spPr>
          <a:xfrm>
            <a:off x="5632704" y="20098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90" name="Shape 88"/>
          <p:cNvSpPr/>
          <p:nvPr/>
        </p:nvSpPr>
        <p:spPr>
          <a:xfrm>
            <a:off x="5737860" y="20098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91" name="Shape 89"/>
          <p:cNvSpPr/>
          <p:nvPr/>
        </p:nvSpPr>
        <p:spPr>
          <a:xfrm>
            <a:off x="5843016" y="20098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92" name="Shape 90"/>
          <p:cNvSpPr/>
          <p:nvPr/>
        </p:nvSpPr>
        <p:spPr>
          <a:xfrm>
            <a:off x="5948172" y="20098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93" name="Shape 91"/>
          <p:cNvSpPr/>
          <p:nvPr/>
        </p:nvSpPr>
        <p:spPr>
          <a:xfrm>
            <a:off x="5212080" y="20537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94" name="Shape 92"/>
          <p:cNvSpPr/>
          <p:nvPr/>
        </p:nvSpPr>
        <p:spPr>
          <a:xfrm>
            <a:off x="5317236" y="20537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95" name="Shape 93"/>
          <p:cNvSpPr/>
          <p:nvPr/>
        </p:nvSpPr>
        <p:spPr>
          <a:xfrm>
            <a:off x="5422392" y="20537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96" name="Shape 94"/>
          <p:cNvSpPr/>
          <p:nvPr/>
        </p:nvSpPr>
        <p:spPr>
          <a:xfrm>
            <a:off x="5527548" y="20537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97" name="Shape 95"/>
          <p:cNvSpPr/>
          <p:nvPr/>
        </p:nvSpPr>
        <p:spPr>
          <a:xfrm>
            <a:off x="5632704" y="20537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98" name="Shape 96"/>
          <p:cNvSpPr/>
          <p:nvPr/>
        </p:nvSpPr>
        <p:spPr>
          <a:xfrm>
            <a:off x="5737860" y="20537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99" name="Shape 97"/>
          <p:cNvSpPr/>
          <p:nvPr/>
        </p:nvSpPr>
        <p:spPr>
          <a:xfrm>
            <a:off x="5843016" y="20537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00" name="Shape 98"/>
          <p:cNvSpPr/>
          <p:nvPr/>
        </p:nvSpPr>
        <p:spPr>
          <a:xfrm>
            <a:off x="5948172" y="20537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01" name="Shape 99"/>
          <p:cNvSpPr/>
          <p:nvPr/>
        </p:nvSpPr>
        <p:spPr>
          <a:xfrm>
            <a:off x="5212080" y="209763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317236" y="209763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03" name="Shape 101"/>
          <p:cNvSpPr/>
          <p:nvPr/>
        </p:nvSpPr>
        <p:spPr>
          <a:xfrm>
            <a:off x="5422392" y="209763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527548" y="209763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05" name="Shape 103"/>
          <p:cNvSpPr/>
          <p:nvPr/>
        </p:nvSpPr>
        <p:spPr>
          <a:xfrm>
            <a:off x="5632704" y="209763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737860" y="209763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843016" y="209763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948172" y="209763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212080" y="2141525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10" name="Shape 108"/>
          <p:cNvSpPr/>
          <p:nvPr/>
        </p:nvSpPr>
        <p:spPr>
          <a:xfrm>
            <a:off x="5317236" y="2141525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422392" y="2141525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527548" y="2141525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632704" y="2141525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737860" y="2141525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843016" y="2141525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948172" y="2141525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212080" y="218541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317236" y="218541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422392" y="218541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20" name="Shape 118"/>
          <p:cNvSpPr/>
          <p:nvPr/>
        </p:nvSpPr>
        <p:spPr>
          <a:xfrm>
            <a:off x="5527548" y="218541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632704" y="218541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22" name="Shape 120"/>
          <p:cNvSpPr/>
          <p:nvPr/>
        </p:nvSpPr>
        <p:spPr>
          <a:xfrm>
            <a:off x="5737860" y="218541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5843016" y="218541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948172" y="218541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25" name="Shape 123"/>
          <p:cNvSpPr/>
          <p:nvPr/>
        </p:nvSpPr>
        <p:spPr>
          <a:xfrm>
            <a:off x="5212080" y="2229307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317236" y="2229307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5422392" y="2229307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5527548" y="2229307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5632704" y="2229307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130" name="Shape 128"/>
          <p:cNvSpPr/>
          <p:nvPr/>
        </p:nvSpPr>
        <p:spPr>
          <a:xfrm>
            <a:off x="5737860" y="2229307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843016" y="2229307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132" name="Shape 130"/>
          <p:cNvSpPr/>
          <p:nvPr/>
        </p:nvSpPr>
        <p:spPr>
          <a:xfrm>
            <a:off x="5948172" y="2229307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133" name="Shape 131"/>
          <p:cNvSpPr/>
          <p:nvPr/>
        </p:nvSpPr>
        <p:spPr>
          <a:xfrm>
            <a:off x="5212080" y="227319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34" name="Shape 132"/>
          <p:cNvSpPr/>
          <p:nvPr/>
        </p:nvSpPr>
        <p:spPr>
          <a:xfrm>
            <a:off x="5317236" y="227319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422392" y="227319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527548" y="227319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632704" y="227319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737860" y="227319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843016" y="227319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948172" y="227319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41" name="Shape 139"/>
          <p:cNvSpPr/>
          <p:nvPr/>
        </p:nvSpPr>
        <p:spPr>
          <a:xfrm>
            <a:off x="8321040" y="1234440"/>
            <a:ext cx="3794760" cy="1152144"/>
          </a:xfrm>
          <a:prstGeom prst="roundRect">
            <a:avLst>
              <a:gd name="adj" fmla="val 634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8430768" y="1325880"/>
            <a:ext cx="685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F78166"/>
                </a:solidFill>
              </a:rPr>
              <a:t>♗</a:t>
            </a:r>
            <a:endParaRPr lang="en-US" sz="3800" dirty="0"/>
          </a:p>
        </p:txBody>
      </p:sp>
      <p:sp>
        <p:nvSpPr>
          <p:cNvPr id="143" name="Text 141"/>
          <p:cNvSpPr/>
          <p:nvPr/>
        </p:nvSpPr>
        <p:spPr>
          <a:xfrm>
            <a:off x="9189720" y="137160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781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WhiteBishops</a:t>
            </a:r>
            <a:endParaRPr lang="en-US" sz="1300" dirty="0"/>
          </a:p>
        </p:txBody>
      </p:sp>
      <p:sp>
        <p:nvSpPr>
          <p:cNvPr id="144" name="Text 142"/>
          <p:cNvSpPr/>
          <p:nvPr/>
        </p:nvSpPr>
        <p:spPr>
          <a:xfrm>
            <a:off x="9189720" y="1691640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0x0000000000000024</a:t>
            </a:r>
            <a:endParaRPr lang="en-US" sz="950" dirty="0"/>
          </a:p>
        </p:txBody>
      </p:sp>
      <p:sp>
        <p:nvSpPr>
          <p:cNvPr id="145" name="Shape 143"/>
          <p:cNvSpPr/>
          <p:nvPr/>
        </p:nvSpPr>
        <p:spPr>
          <a:xfrm>
            <a:off x="9189720" y="19659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46" name="Shape 144"/>
          <p:cNvSpPr/>
          <p:nvPr/>
        </p:nvSpPr>
        <p:spPr>
          <a:xfrm>
            <a:off x="9294876" y="19659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47" name="Shape 145"/>
          <p:cNvSpPr/>
          <p:nvPr/>
        </p:nvSpPr>
        <p:spPr>
          <a:xfrm>
            <a:off x="9400032" y="19659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505188" y="19659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49" name="Shape 147"/>
          <p:cNvSpPr/>
          <p:nvPr/>
        </p:nvSpPr>
        <p:spPr>
          <a:xfrm>
            <a:off x="9610344" y="19659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50" name="Shape 148"/>
          <p:cNvSpPr/>
          <p:nvPr/>
        </p:nvSpPr>
        <p:spPr>
          <a:xfrm>
            <a:off x="9715500" y="19659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51" name="Shape 149"/>
          <p:cNvSpPr/>
          <p:nvPr/>
        </p:nvSpPr>
        <p:spPr>
          <a:xfrm>
            <a:off x="9820656" y="19659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52" name="Shape 150"/>
          <p:cNvSpPr/>
          <p:nvPr/>
        </p:nvSpPr>
        <p:spPr>
          <a:xfrm>
            <a:off x="9925812" y="19659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53" name="Shape 151"/>
          <p:cNvSpPr/>
          <p:nvPr/>
        </p:nvSpPr>
        <p:spPr>
          <a:xfrm>
            <a:off x="9189720" y="20098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54" name="Shape 152"/>
          <p:cNvSpPr/>
          <p:nvPr/>
        </p:nvSpPr>
        <p:spPr>
          <a:xfrm>
            <a:off x="9294876" y="20098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55" name="Shape 153"/>
          <p:cNvSpPr/>
          <p:nvPr/>
        </p:nvSpPr>
        <p:spPr>
          <a:xfrm>
            <a:off x="9400032" y="20098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56" name="Shape 154"/>
          <p:cNvSpPr/>
          <p:nvPr/>
        </p:nvSpPr>
        <p:spPr>
          <a:xfrm>
            <a:off x="9505188" y="20098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57" name="Shape 155"/>
          <p:cNvSpPr/>
          <p:nvPr/>
        </p:nvSpPr>
        <p:spPr>
          <a:xfrm>
            <a:off x="9610344" y="20098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58" name="Shape 156"/>
          <p:cNvSpPr/>
          <p:nvPr/>
        </p:nvSpPr>
        <p:spPr>
          <a:xfrm>
            <a:off x="9715500" y="20098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59" name="Shape 157"/>
          <p:cNvSpPr/>
          <p:nvPr/>
        </p:nvSpPr>
        <p:spPr>
          <a:xfrm>
            <a:off x="9820656" y="20098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60" name="Shape 158"/>
          <p:cNvSpPr/>
          <p:nvPr/>
        </p:nvSpPr>
        <p:spPr>
          <a:xfrm>
            <a:off x="9925812" y="20098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61" name="Shape 159"/>
          <p:cNvSpPr/>
          <p:nvPr/>
        </p:nvSpPr>
        <p:spPr>
          <a:xfrm>
            <a:off x="9189720" y="20537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62" name="Shape 160"/>
          <p:cNvSpPr/>
          <p:nvPr/>
        </p:nvSpPr>
        <p:spPr>
          <a:xfrm>
            <a:off x="9294876" y="20537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63" name="Shape 161"/>
          <p:cNvSpPr/>
          <p:nvPr/>
        </p:nvSpPr>
        <p:spPr>
          <a:xfrm>
            <a:off x="9400032" y="20537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64" name="Shape 162"/>
          <p:cNvSpPr/>
          <p:nvPr/>
        </p:nvSpPr>
        <p:spPr>
          <a:xfrm>
            <a:off x="9505188" y="20537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65" name="Shape 163"/>
          <p:cNvSpPr/>
          <p:nvPr/>
        </p:nvSpPr>
        <p:spPr>
          <a:xfrm>
            <a:off x="9610344" y="20537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66" name="Shape 164"/>
          <p:cNvSpPr/>
          <p:nvPr/>
        </p:nvSpPr>
        <p:spPr>
          <a:xfrm>
            <a:off x="9715500" y="20537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67" name="Shape 165"/>
          <p:cNvSpPr/>
          <p:nvPr/>
        </p:nvSpPr>
        <p:spPr>
          <a:xfrm>
            <a:off x="9820656" y="20537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68" name="Shape 166"/>
          <p:cNvSpPr/>
          <p:nvPr/>
        </p:nvSpPr>
        <p:spPr>
          <a:xfrm>
            <a:off x="9925812" y="20537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69" name="Shape 167"/>
          <p:cNvSpPr/>
          <p:nvPr/>
        </p:nvSpPr>
        <p:spPr>
          <a:xfrm>
            <a:off x="9189720" y="209763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70" name="Shape 168"/>
          <p:cNvSpPr/>
          <p:nvPr/>
        </p:nvSpPr>
        <p:spPr>
          <a:xfrm>
            <a:off x="9294876" y="209763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71" name="Shape 169"/>
          <p:cNvSpPr/>
          <p:nvPr/>
        </p:nvSpPr>
        <p:spPr>
          <a:xfrm>
            <a:off x="9400032" y="209763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72" name="Shape 170"/>
          <p:cNvSpPr/>
          <p:nvPr/>
        </p:nvSpPr>
        <p:spPr>
          <a:xfrm>
            <a:off x="9505188" y="209763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73" name="Shape 171"/>
          <p:cNvSpPr/>
          <p:nvPr/>
        </p:nvSpPr>
        <p:spPr>
          <a:xfrm>
            <a:off x="9610344" y="209763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74" name="Shape 172"/>
          <p:cNvSpPr/>
          <p:nvPr/>
        </p:nvSpPr>
        <p:spPr>
          <a:xfrm>
            <a:off x="9715500" y="209763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75" name="Shape 173"/>
          <p:cNvSpPr/>
          <p:nvPr/>
        </p:nvSpPr>
        <p:spPr>
          <a:xfrm>
            <a:off x="9820656" y="209763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76" name="Shape 174"/>
          <p:cNvSpPr/>
          <p:nvPr/>
        </p:nvSpPr>
        <p:spPr>
          <a:xfrm>
            <a:off x="9925812" y="209763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77" name="Shape 175"/>
          <p:cNvSpPr/>
          <p:nvPr/>
        </p:nvSpPr>
        <p:spPr>
          <a:xfrm>
            <a:off x="9189720" y="2141525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78" name="Shape 176"/>
          <p:cNvSpPr/>
          <p:nvPr/>
        </p:nvSpPr>
        <p:spPr>
          <a:xfrm>
            <a:off x="9294876" y="2141525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79" name="Shape 177"/>
          <p:cNvSpPr/>
          <p:nvPr/>
        </p:nvSpPr>
        <p:spPr>
          <a:xfrm>
            <a:off x="9400032" y="2141525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80" name="Shape 178"/>
          <p:cNvSpPr/>
          <p:nvPr/>
        </p:nvSpPr>
        <p:spPr>
          <a:xfrm>
            <a:off x="9505188" y="2141525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610344" y="2141525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82" name="Shape 180"/>
          <p:cNvSpPr/>
          <p:nvPr/>
        </p:nvSpPr>
        <p:spPr>
          <a:xfrm>
            <a:off x="9715500" y="2141525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83" name="Shape 181"/>
          <p:cNvSpPr/>
          <p:nvPr/>
        </p:nvSpPr>
        <p:spPr>
          <a:xfrm>
            <a:off x="9820656" y="2141525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84" name="Shape 182"/>
          <p:cNvSpPr/>
          <p:nvPr/>
        </p:nvSpPr>
        <p:spPr>
          <a:xfrm>
            <a:off x="9925812" y="2141525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85" name="Shape 183"/>
          <p:cNvSpPr/>
          <p:nvPr/>
        </p:nvSpPr>
        <p:spPr>
          <a:xfrm>
            <a:off x="9189720" y="218541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86" name="Shape 184"/>
          <p:cNvSpPr/>
          <p:nvPr/>
        </p:nvSpPr>
        <p:spPr>
          <a:xfrm>
            <a:off x="9294876" y="218541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87" name="Shape 185"/>
          <p:cNvSpPr/>
          <p:nvPr/>
        </p:nvSpPr>
        <p:spPr>
          <a:xfrm>
            <a:off x="9400032" y="218541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88" name="Shape 186"/>
          <p:cNvSpPr/>
          <p:nvPr/>
        </p:nvSpPr>
        <p:spPr>
          <a:xfrm>
            <a:off x="9505188" y="218541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89" name="Shape 187"/>
          <p:cNvSpPr/>
          <p:nvPr/>
        </p:nvSpPr>
        <p:spPr>
          <a:xfrm>
            <a:off x="9610344" y="218541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90" name="Shape 188"/>
          <p:cNvSpPr/>
          <p:nvPr/>
        </p:nvSpPr>
        <p:spPr>
          <a:xfrm>
            <a:off x="9715500" y="218541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91" name="Shape 189"/>
          <p:cNvSpPr/>
          <p:nvPr/>
        </p:nvSpPr>
        <p:spPr>
          <a:xfrm>
            <a:off x="9820656" y="218541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92" name="Shape 190"/>
          <p:cNvSpPr/>
          <p:nvPr/>
        </p:nvSpPr>
        <p:spPr>
          <a:xfrm>
            <a:off x="9925812" y="218541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193" name="Shape 191"/>
          <p:cNvSpPr/>
          <p:nvPr/>
        </p:nvSpPr>
        <p:spPr>
          <a:xfrm>
            <a:off x="9189720" y="2229307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194" name="Shape 192"/>
          <p:cNvSpPr/>
          <p:nvPr/>
        </p:nvSpPr>
        <p:spPr>
          <a:xfrm>
            <a:off x="9294876" y="2229307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195" name="Shape 193"/>
          <p:cNvSpPr/>
          <p:nvPr/>
        </p:nvSpPr>
        <p:spPr>
          <a:xfrm>
            <a:off x="9400032" y="2229307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196" name="Shape 194"/>
          <p:cNvSpPr/>
          <p:nvPr/>
        </p:nvSpPr>
        <p:spPr>
          <a:xfrm>
            <a:off x="9505188" y="2229307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197" name="Shape 195"/>
          <p:cNvSpPr/>
          <p:nvPr/>
        </p:nvSpPr>
        <p:spPr>
          <a:xfrm>
            <a:off x="9610344" y="2229307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198" name="Shape 196"/>
          <p:cNvSpPr/>
          <p:nvPr/>
        </p:nvSpPr>
        <p:spPr>
          <a:xfrm>
            <a:off x="9715500" y="2229307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199" name="Shape 197"/>
          <p:cNvSpPr/>
          <p:nvPr/>
        </p:nvSpPr>
        <p:spPr>
          <a:xfrm>
            <a:off x="9820656" y="2229307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200" name="Shape 198"/>
          <p:cNvSpPr/>
          <p:nvPr/>
        </p:nvSpPr>
        <p:spPr>
          <a:xfrm>
            <a:off x="9925812" y="2229307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201" name="Shape 199"/>
          <p:cNvSpPr/>
          <p:nvPr/>
        </p:nvSpPr>
        <p:spPr>
          <a:xfrm>
            <a:off x="9189720" y="227319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02" name="Shape 200"/>
          <p:cNvSpPr/>
          <p:nvPr/>
        </p:nvSpPr>
        <p:spPr>
          <a:xfrm>
            <a:off x="9294876" y="227319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03" name="Shape 201"/>
          <p:cNvSpPr/>
          <p:nvPr/>
        </p:nvSpPr>
        <p:spPr>
          <a:xfrm>
            <a:off x="9400032" y="227319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04" name="Shape 202"/>
          <p:cNvSpPr/>
          <p:nvPr/>
        </p:nvSpPr>
        <p:spPr>
          <a:xfrm>
            <a:off x="9505188" y="227319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05" name="Shape 203"/>
          <p:cNvSpPr/>
          <p:nvPr/>
        </p:nvSpPr>
        <p:spPr>
          <a:xfrm>
            <a:off x="9610344" y="227319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06" name="Shape 204"/>
          <p:cNvSpPr/>
          <p:nvPr/>
        </p:nvSpPr>
        <p:spPr>
          <a:xfrm>
            <a:off x="9715500" y="227319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07" name="Shape 205"/>
          <p:cNvSpPr/>
          <p:nvPr/>
        </p:nvSpPr>
        <p:spPr>
          <a:xfrm>
            <a:off x="9820656" y="227319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08" name="Shape 206"/>
          <p:cNvSpPr/>
          <p:nvPr/>
        </p:nvSpPr>
        <p:spPr>
          <a:xfrm>
            <a:off x="9925812" y="227319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09" name="Shape 207"/>
          <p:cNvSpPr/>
          <p:nvPr/>
        </p:nvSpPr>
        <p:spPr>
          <a:xfrm>
            <a:off x="365760" y="2496312"/>
            <a:ext cx="3794760" cy="1152144"/>
          </a:xfrm>
          <a:prstGeom prst="roundRect">
            <a:avLst>
              <a:gd name="adj" fmla="val 634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475488" y="2587752"/>
            <a:ext cx="685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F78166"/>
                </a:solidFill>
              </a:rPr>
              <a:t>♖</a:t>
            </a:r>
            <a:endParaRPr lang="en-US" sz="3800" dirty="0"/>
          </a:p>
        </p:txBody>
      </p:sp>
      <p:sp>
        <p:nvSpPr>
          <p:cNvPr id="211" name="Text 209"/>
          <p:cNvSpPr/>
          <p:nvPr/>
        </p:nvSpPr>
        <p:spPr>
          <a:xfrm>
            <a:off x="1234440" y="2633472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781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WhiteRooks</a:t>
            </a:r>
            <a:endParaRPr lang="en-US" sz="1300" dirty="0"/>
          </a:p>
        </p:txBody>
      </p:sp>
      <p:sp>
        <p:nvSpPr>
          <p:cNvPr id="212" name="Text 210"/>
          <p:cNvSpPr/>
          <p:nvPr/>
        </p:nvSpPr>
        <p:spPr>
          <a:xfrm>
            <a:off x="1234440" y="2953512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0x0000000000000081</a:t>
            </a:r>
            <a:endParaRPr lang="en-US" sz="950" dirty="0"/>
          </a:p>
        </p:txBody>
      </p:sp>
      <p:sp>
        <p:nvSpPr>
          <p:cNvPr id="213" name="Shape 211"/>
          <p:cNvSpPr/>
          <p:nvPr/>
        </p:nvSpPr>
        <p:spPr>
          <a:xfrm>
            <a:off x="1234440" y="32278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14" name="Shape 212"/>
          <p:cNvSpPr/>
          <p:nvPr/>
        </p:nvSpPr>
        <p:spPr>
          <a:xfrm>
            <a:off x="1339596" y="32278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15" name="Shape 213"/>
          <p:cNvSpPr/>
          <p:nvPr/>
        </p:nvSpPr>
        <p:spPr>
          <a:xfrm>
            <a:off x="1444752" y="32278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16" name="Shape 214"/>
          <p:cNvSpPr/>
          <p:nvPr/>
        </p:nvSpPr>
        <p:spPr>
          <a:xfrm>
            <a:off x="1549908" y="32278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17" name="Shape 215"/>
          <p:cNvSpPr/>
          <p:nvPr/>
        </p:nvSpPr>
        <p:spPr>
          <a:xfrm>
            <a:off x="1655064" y="32278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18" name="Shape 216"/>
          <p:cNvSpPr/>
          <p:nvPr/>
        </p:nvSpPr>
        <p:spPr>
          <a:xfrm>
            <a:off x="1760220" y="32278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19" name="Shape 217"/>
          <p:cNvSpPr/>
          <p:nvPr/>
        </p:nvSpPr>
        <p:spPr>
          <a:xfrm>
            <a:off x="1865376" y="32278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20" name="Shape 218"/>
          <p:cNvSpPr/>
          <p:nvPr/>
        </p:nvSpPr>
        <p:spPr>
          <a:xfrm>
            <a:off x="1970532" y="32278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21" name="Shape 219"/>
          <p:cNvSpPr/>
          <p:nvPr/>
        </p:nvSpPr>
        <p:spPr>
          <a:xfrm>
            <a:off x="1234440" y="32717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22" name="Shape 220"/>
          <p:cNvSpPr/>
          <p:nvPr/>
        </p:nvSpPr>
        <p:spPr>
          <a:xfrm>
            <a:off x="1339596" y="32717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23" name="Shape 221"/>
          <p:cNvSpPr/>
          <p:nvPr/>
        </p:nvSpPr>
        <p:spPr>
          <a:xfrm>
            <a:off x="1444752" y="32717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24" name="Shape 222"/>
          <p:cNvSpPr/>
          <p:nvPr/>
        </p:nvSpPr>
        <p:spPr>
          <a:xfrm>
            <a:off x="1549908" y="32717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25" name="Shape 223"/>
          <p:cNvSpPr/>
          <p:nvPr/>
        </p:nvSpPr>
        <p:spPr>
          <a:xfrm>
            <a:off x="1655064" y="32717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26" name="Shape 224"/>
          <p:cNvSpPr/>
          <p:nvPr/>
        </p:nvSpPr>
        <p:spPr>
          <a:xfrm>
            <a:off x="1760220" y="32717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27" name="Shape 225"/>
          <p:cNvSpPr/>
          <p:nvPr/>
        </p:nvSpPr>
        <p:spPr>
          <a:xfrm>
            <a:off x="1865376" y="32717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28" name="Shape 226"/>
          <p:cNvSpPr/>
          <p:nvPr/>
        </p:nvSpPr>
        <p:spPr>
          <a:xfrm>
            <a:off x="1970532" y="32717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29" name="Shape 227"/>
          <p:cNvSpPr/>
          <p:nvPr/>
        </p:nvSpPr>
        <p:spPr>
          <a:xfrm>
            <a:off x="1234440" y="33156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30" name="Shape 228"/>
          <p:cNvSpPr/>
          <p:nvPr/>
        </p:nvSpPr>
        <p:spPr>
          <a:xfrm>
            <a:off x="1339596" y="33156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31" name="Shape 229"/>
          <p:cNvSpPr/>
          <p:nvPr/>
        </p:nvSpPr>
        <p:spPr>
          <a:xfrm>
            <a:off x="1444752" y="33156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32" name="Shape 230"/>
          <p:cNvSpPr/>
          <p:nvPr/>
        </p:nvSpPr>
        <p:spPr>
          <a:xfrm>
            <a:off x="1549908" y="33156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33" name="Shape 231"/>
          <p:cNvSpPr/>
          <p:nvPr/>
        </p:nvSpPr>
        <p:spPr>
          <a:xfrm>
            <a:off x="1655064" y="33156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34" name="Shape 232"/>
          <p:cNvSpPr/>
          <p:nvPr/>
        </p:nvSpPr>
        <p:spPr>
          <a:xfrm>
            <a:off x="1760220" y="33156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35" name="Shape 233"/>
          <p:cNvSpPr/>
          <p:nvPr/>
        </p:nvSpPr>
        <p:spPr>
          <a:xfrm>
            <a:off x="1865376" y="33156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36" name="Shape 234"/>
          <p:cNvSpPr/>
          <p:nvPr/>
        </p:nvSpPr>
        <p:spPr>
          <a:xfrm>
            <a:off x="1970532" y="33156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37" name="Shape 235"/>
          <p:cNvSpPr/>
          <p:nvPr/>
        </p:nvSpPr>
        <p:spPr>
          <a:xfrm>
            <a:off x="1234440" y="335950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38" name="Shape 236"/>
          <p:cNvSpPr/>
          <p:nvPr/>
        </p:nvSpPr>
        <p:spPr>
          <a:xfrm>
            <a:off x="1339596" y="335950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39" name="Shape 237"/>
          <p:cNvSpPr/>
          <p:nvPr/>
        </p:nvSpPr>
        <p:spPr>
          <a:xfrm>
            <a:off x="1444752" y="335950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40" name="Shape 238"/>
          <p:cNvSpPr/>
          <p:nvPr/>
        </p:nvSpPr>
        <p:spPr>
          <a:xfrm>
            <a:off x="1549908" y="335950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41" name="Shape 239"/>
          <p:cNvSpPr/>
          <p:nvPr/>
        </p:nvSpPr>
        <p:spPr>
          <a:xfrm>
            <a:off x="1655064" y="335950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42" name="Shape 240"/>
          <p:cNvSpPr/>
          <p:nvPr/>
        </p:nvSpPr>
        <p:spPr>
          <a:xfrm>
            <a:off x="1760220" y="335950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43" name="Shape 241"/>
          <p:cNvSpPr/>
          <p:nvPr/>
        </p:nvSpPr>
        <p:spPr>
          <a:xfrm>
            <a:off x="1865376" y="335950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44" name="Shape 242"/>
          <p:cNvSpPr/>
          <p:nvPr/>
        </p:nvSpPr>
        <p:spPr>
          <a:xfrm>
            <a:off x="1970532" y="335950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45" name="Shape 243"/>
          <p:cNvSpPr/>
          <p:nvPr/>
        </p:nvSpPr>
        <p:spPr>
          <a:xfrm>
            <a:off x="1234440" y="3403397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46" name="Shape 244"/>
          <p:cNvSpPr/>
          <p:nvPr/>
        </p:nvSpPr>
        <p:spPr>
          <a:xfrm>
            <a:off x="1339596" y="3403397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47" name="Shape 245"/>
          <p:cNvSpPr/>
          <p:nvPr/>
        </p:nvSpPr>
        <p:spPr>
          <a:xfrm>
            <a:off x="1444752" y="3403397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48" name="Shape 246"/>
          <p:cNvSpPr/>
          <p:nvPr/>
        </p:nvSpPr>
        <p:spPr>
          <a:xfrm>
            <a:off x="1549908" y="3403397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49" name="Shape 247"/>
          <p:cNvSpPr/>
          <p:nvPr/>
        </p:nvSpPr>
        <p:spPr>
          <a:xfrm>
            <a:off x="1655064" y="3403397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50" name="Shape 248"/>
          <p:cNvSpPr/>
          <p:nvPr/>
        </p:nvSpPr>
        <p:spPr>
          <a:xfrm>
            <a:off x="1760220" y="3403397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51" name="Shape 249"/>
          <p:cNvSpPr/>
          <p:nvPr/>
        </p:nvSpPr>
        <p:spPr>
          <a:xfrm>
            <a:off x="1865376" y="3403397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52" name="Shape 250"/>
          <p:cNvSpPr/>
          <p:nvPr/>
        </p:nvSpPr>
        <p:spPr>
          <a:xfrm>
            <a:off x="1970532" y="3403397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53" name="Shape 251"/>
          <p:cNvSpPr/>
          <p:nvPr/>
        </p:nvSpPr>
        <p:spPr>
          <a:xfrm>
            <a:off x="1234440" y="344728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54" name="Shape 252"/>
          <p:cNvSpPr/>
          <p:nvPr/>
        </p:nvSpPr>
        <p:spPr>
          <a:xfrm>
            <a:off x="1339596" y="344728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55" name="Shape 253"/>
          <p:cNvSpPr/>
          <p:nvPr/>
        </p:nvSpPr>
        <p:spPr>
          <a:xfrm>
            <a:off x="1444752" y="344728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56" name="Shape 254"/>
          <p:cNvSpPr/>
          <p:nvPr/>
        </p:nvSpPr>
        <p:spPr>
          <a:xfrm>
            <a:off x="1549908" y="344728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57" name="Shape 255"/>
          <p:cNvSpPr/>
          <p:nvPr/>
        </p:nvSpPr>
        <p:spPr>
          <a:xfrm>
            <a:off x="1655064" y="344728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58" name="Shape 256"/>
          <p:cNvSpPr/>
          <p:nvPr/>
        </p:nvSpPr>
        <p:spPr>
          <a:xfrm>
            <a:off x="1760220" y="344728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59" name="Shape 257"/>
          <p:cNvSpPr/>
          <p:nvPr/>
        </p:nvSpPr>
        <p:spPr>
          <a:xfrm>
            <a:off x="1865376" y="344728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60" name="Shape 258"/>
          <p:cNvSpPr/>
          <p:nvPr/>
        </p:nvSpPr>
        <p:spPr>
          <a:xfrm>
            <a:off x="1970532" y="344728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61" name="Shape 259"/>
          <p:cNvSpPr/>
          <p:nvPr/>
        </p:nvSpPr>
        <p:spPr>
          <a:xfrm>
            <a:off x="1234440" y="3491179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262" name="Shape 260"/>
          <p:cNvSpPr/>
          <p:nvPr/>
        </p:nvSpPr>
        <p:spPr>
          <a:xfrm>
            <a:off x="1339596" y="3491179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263" name="Shape 261"/>
          <p:cNvSpPr/>
          <p:nvPr/>
        </p:nvSpPr>
        <p:spPr>
          <a:xfrm>
            <a:off x="1444752" y="3491179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264" name="Shape 262"/>
          <p:cNvSpPr/>
          <p:nvPr/>
        </p:nvSpPr>
        <p:spPr>
          <a:xfrm>
            <a:off x="1549908" y="3491179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265" name="Shape 263"/>
          <p:cNvSpPr/>
          <p:nvPr/>
        </p:nvSpPr>
        <p:spPr>
          <a:xfrm>
            <a:off x="1655064" y="3491179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266" name="Shape 264"/>
          <p:cNvSpPr/>
          <p:nvPr/>
        </p:nvSpPr>
        <p:spPr>
          <a:xfrm>
            <a:off x="1760220" y="3491179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267" name="Shape 265"/>
          <p:cNvSpPr/>
          <p:nvPr/>
        </p:nvSpPr>
        <p:spPr>
          <a:xfrm>
            <a:off x="1865376" y="3491179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268" name="Shape 266"/>
          <p:cNvSpPr/>
          <p:nvPr/>
        </p:nvSpPr>
        <p:spPr>
          <a:xfrm>
            <a:off x="1970532" y="3491179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269" name="Shape 267"/>
          <p:cNvSpPr/>
          <p:nvPr/>
        </p:nvSpPr>
        <p:spPr>
          <a:xfrm>
            <a:off x="1234440" y="353507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70" name="Shape 268"/>
          <p:cNvSpPr/>
          <p:nvPr/>
        </p:nvSpPr>
        <p:spPr>
          <a:xfrm>
            <a:off x="1339596" y="353507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71" name="Shape 269"/>
          <p:cNvSpPr/>
          <p:nvPr/>
        </p:nvSpPr>
        <p:spPr>
          <a:xfrm>
            <a:off x="1444752" y="353507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72" name="Shape 270"/>
          <p:cNvSpPr/>
          <p:nvPr/>
        </p:nvSpPr>
        <p:spPr>
          <a:xfrm>
            <a:off x="1549908" y="353507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73" name="Shape 271"/>
          <p:cNvSpPr/>
          <p:nvPr/>
        </p:nvSpPr>
        <p:spPr>
          <a:xfrm>
            <a:off x="1655064" y="353507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74" name="Shape 272"/>
          <p:cNvSpPr/>
          <p:nvPr/>
        </p:nvSpPr>
        <p:spPr>
          <a:xfrm>
            <a:off x="1760220" y="353507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75" name="Shape 273"/>
          <p:cNvSpPr/>
          <p:nvPr/>
        </p:nvSpPr>
        <p:spPr>
          <a:xfrm>
            <a:off x="1865376" y="353507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76" name="Shape 274"/>
          <p:cNvSpPr/>
          <p:nvPr/>
        </p:nvSpPr>
        <p:spPr>
          <a:xfrm>
            <a:off x="1970532" y="353507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77" name="Shape 275"/>
          <p:cNvSpPr/>
          <p:nvPr/>
        </p:nvSpPr>
        <p:spPr>
          <a:xfrm>
            <a:off x="4343400" y="2496312"/>
            <a:ext cx="3794760" cy="1152144"/>
          </a:xfrm>
          <a:prstGeom prst="roundRect">
            <a:avLst>
              <a:gd name="adj" fmla="val 634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78" name="Text 276"/>
          <p:cNvSpPr/>
          <p:nvPr/>
        </p:nvSpPr>
        <p:spPr>
          <a:xfrm>
            <a:off x="4453128" y="2587752"/>
            <a:ext cx="685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F78166"/>
                </a:solidFill>
              </a:rPr>
              <a:t>♕</a:t>
            </a:r>
            <a:endParaRPr lang="en-US" sz="3800" dirty="0"/>
          </a:p>
        </p:txBody>
      </p:sp>
      <p:sp>
        <p:nvSpPr>
          <p:cNvPr id="279" name="Text 277"/>
          <p:cNvSpPr/>
          <p:nvPr/>
        </p:nvSpPr>
        <p:spPr>
          <a:xfrm>
            <a:off x="5212080" y="2633472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781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WhiteQueens</a:t>
            </a:r>
            <a:endParaRPr lang="en-US" sz="1300" dirty="0"/>
          </a:p>
        </p:txBody>
      </p:sp>
      <p:sp>
        <p:nvSpPr>
          <p:cNvPr id="280" name="Text 278"/>
          <p:cNvSpPr/>
          <p:nvPr/>
        </p:nvSpPr>
        <p:spPr>
          <a:xfrm>
            <a:off x="5212080" y="2953512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0x0000000000000008</a:t>
            </a:r>
            <a:endParaRPr lang="en-US" sz="950" dirty="0"/>
          </a:p>
        </p:txBody>
      </p:sp>
      <p:sp>
        <p:nvSpPr>
          <p:cNvPr id="281" name="Shape 279"/>
          <p:cNvSpPr/>
          <p:nvPr/>
        </p:nvSpPr>
        <p:spPr>
          <a:xfrm>
            <a:off x="5212080" y="32278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82" name="Shape 280"/>
          <p:cNvSpPr/>
          <p:nvPr/>
        </p:nvSpPr>
        <p:spPr>
          <a:xfrm>
            <a:off x="5317236" y="32278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83" name="Shape 281"/>
          <p:cNvSpPr/>
          <p:nvPr/>
        </p:nvSpPr>
        <p:spPr>
          <a:xfrm>
            <a:off x="5422392" y="32278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84" name="Shape 282"/>
          <p:cNvSpPr/>
          <p:nvPr/>
        </p:nvSpPr>
        <p:spPr>
          <a:xfrm>
            <a:off x="5527548" y="32278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85" name="Shape 283"/>
          <p:cNvSpPr/>
          <p:nvPr/>
        </p:nvSpPr>
        <p:spPr>
          <a:xfrm>
            <a:off x="5632704" y="32278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86" name="Shape 284"/>
          <p:cNvSpPr/>
          <p:nvPr/>
        </p:nvSpPr>
        <p:spPr>
          <a:xfrm>
            <a:off x="5737860" y="32278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87" name="Shape 285"/>
          <p:cNvSpPr/>
          <p:nvPr/>
        </p:nvSpPr>
        <p:spPr>
          <a:xfrm>
            <a:off x="5843016" y="32278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88" name="Shape 286"/>
          <p:cNvSpPr/>
          <p:nvPr/>
        </p:nvSpPr>
        <p:spPr>
          <a:xfrm>
            <a:off x="5948172" y="32278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89" name="Shape 287"/>
          <p:cNvSpPr/>
          <p:nvPr/>
        </p:nvSpPr>
        <p:spPr>
          <a:xfrm>
            <a:off x="5212080" y="32717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90" name="Shape 288"/>
          <p:cNvSpPr/>
          <p:nvPr/>
        </p:nvSpPr>
        <p:spPr>
          <a:xfrm>
            <a:off x="5317236" y="32717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91" name="Shape 289"/>
          <p:cNvSpPr/>
          <p:nvPr/>
        </p:nvSpPr>
        <p:spPr>
          <a:xfrm>
            <a:off x="5422392" y="32717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92" name="Shape 290"/>
          <p:cNvSpPr/>
          <p:nvPr/>
        </p:nvSpPr>
        <p:spPr>
          <a:xfrm>
            <a:off x="5527548" y="32717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93" name="Shape 291"/>
          <p:cNvSpPr/>
          <p:nvPr/>
        </p:nvSpPr>
        <p:spPr>
          <a:xfrm>
            <a:off x="5632704" y="32717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94" name="Shape 292"/>
          <p:cNvSpPr/>
          <p:nvPr/>
        </p:nvSpPr>
        <p:spPr>
          <a:xfrm>
            <a:off x="5737860" y="32717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95" name="Shape 293"/>
          <p:cNvSpPr/>
          <p:nvPr/>
        </p:nvSpPr>
        <p:spPr>
          <a:xfrm>
            <a:off x="5843016" y="32717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96" name="Shape 294"/>
          <p:cNvSpPr/>
          <p:nvPr/>
        </p:nvSpPr>
        <p:spPr>
          <a:xfrm>
            <a:off x="5948172" y="32717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97" name="Shape 295"/>
          <p:cNvSpPr/>
          <p:nvPr/>
        </p:nvSpPr>
        <p:spPr>
          <a:xfrm>
            <a:off x="5212080" y="33156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98" name="Shape 296"/>
          <p:cNvSpPr/>
          <p:nvPr/>
        </p:nvSpPr>
        <p:spPr>
          <a:xfrm>
            <a:off x="5317236" y="33156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99" name="Shape 297"/>
          <p:cNvSpPr/>
          <p:nvPr/>
        </p:nvSpPr>
        <p:spPr>
          <a:xfrm>
            <a:off x="5422392" y="33156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00" name="Shape 298"/>
          <p:cNvSpPr/>
          <p:nvPr/>
        </p:nvSpPr>
        <p:spPr>
          <a:xfrm>
            <a:off x="5527548" y="33156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01" name="Shape 299"/>
          <p:cNvSpPr/>
          <p:nvPr/>
        </p:nvSpPr>
        <p:spPr>
          <a:xfrm>
            <a:off x="5632704" y="33156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02" name="Shape 300"/>
          <p:cNvSpPr/>
          <p:nvPr/>
        </p:nvSpPr>
        <p:spPr>
          <a:xfrm>
            <a:off x="5737860" y="33156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03" name="Shape 301"/>
          <p:cNvSpPr/>
          <p:nvPr/>
        </p:nvSpPr>
        <p:spPr>
          <a:xfrm>
            <a:off x="5843016" y="33156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04" name="Shape 302"/>
          <p:cNvSpPr/>
          <p:nvPr/>
        </p:nvSpPr>
        <p:spPr>
          <a:xfrm>
            <a:off x="5948172" y="33156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05" name="Shape 303"/>
          <p:cNvSpPr/>
          <p:nvPr/>
        </p:nvSpPr>
        <p:spPr>
          <a:xfrm>
            <a:off x="5212080" y="335950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06" name="Shape 304"/>
          <p:cNvSpPr/>
          <p:nvPr/>
        </p:nvSpPr>
        <p:spPr>
          <a:xfrm>
            <a:off x="5317236" y="335950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07" name="Shape 305"/>
          <p:cNvSpPr/>
          <p:nvPr/>
        </p:nvSpPr>
        <p:spPr>
          <a:xfrm>
            <a:off x="5422392" y="335950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08" name="Shape 306"/>
          <p:cNvSpPr/>
          <p:nvPr/>
        </p:nvSpPr>
        <p:spPr>
          <a:xfrm>
            <a:off x="5527548" y="335950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09" name="Shape 307"/>
          <p:cNvSpPr/>
          <p:nvPr/>
        </p:nvSpPr>
        <p:spPr>
          <a:xfrm>
            <a:off x="5632704" y="335950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10" name="Shape 308"/>
          <p:cNvSpPr/>
          <p:nvPr/>
        </p:nvSpPr>
        <p:spPr>
          <a:xfrm>
            <a:off x="5737860" y="335950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11" name="Shape 309"/>
          <p:cNvSpPr/>
          <p:nvPr/>
        </p:nvSpPr>
        <p:spPr>
          <a:xfrm>
            <a:off x="5843016" y="335950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12" name="Shape 310"/>
          <p:cNvSpPr/>
          <p:nvPr/>
        </p:nvSpPr>
        <p:spPr>
          <a:xfrm>
            <a:off x="5948172" y="335950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13" name="Shape 311"/>
          <p:cNvSpPr/>
          <p:nvPr/>
        </p:nvSpPr>
        <p:spPr>
          <a:xfrm>
            <a:off x="5212080" y="3403397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14" name="Shape 312"/>
          <p:cNvSpPr/>
          <p:nvPr/>
        </p:nvSpPr>
        <p:spPr>
          <a:xfrm>
            <a:off x="5317236" y="3403397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15" name="Shape 313"/>
          <p:cNvSpPr/>
          <p:nvPr/>
        </p:nvSpPr>
        <p:spPr>
          <a:xfrm>
            <a:off x="5422392" y="3403397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16" name="Shape 314"/>
          <p:cNvSpPr/>
          <p:nvPr/>
        </p:nvSpPr>
        <p:spPr>
          <a:xfrm>
            <a:off x="5527548" y="3403397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17" name="Shape 315"/>
          <p:cNvSpPr/>
          <p:nvPr/>
        </p:nvSpPr>
        <p:spPr>
          <a:xfrm>
            <a:off x="5632704" y="3403397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18" name="Shape 316"/>
          <p:cNvSpPr/>
          <p:nvPr/>
        </p:nvSpPr>
        <p:spPr>
          <a:xfrm>
            <a:off x="5737860" y="3403397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19" name="Shape 317"/>
          <p:cNvSpPr/>
          <p:nvPr/>
        </p:nvSpPr>
        <p:spPr>
          <a:xfrm>
            <a:off x="5843016" y="3403397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20" name="Shape 318"/>
          <p:cNvSpPr/>
          <p:nvPr/>
        </p:nvSpPr>
        <p:spPr>
          <a:xfrm>
            <a:off x="5948172" y="3403397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21" name="Shape 319"/>
          <p:cNvSpPr/>
          <p:nvPr/>
        </p:nvSpPr>
        <p:spPr>
          <a:xfrm>
            <a:off x="5212080" y="344728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22" name="Shape 320"/>
          <p:cNvSpPr/>
          <p:nvPr/>
        </p:nvSpPr>
        <p:spPr>
          <a:xfrm>
            <a:off x="5317236" y="344728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23" name="Shape 321"/>
          <p:cNvSpPr/>
          <p:nvPr/>
        </p:nvSpPr>
        <p:spPr>
          <a:xfrm>
            <a:off x="5422392" y="344728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24" name="Shape 322"/>
          <p:cNvSpPr/>
          <p:nvPr/>
        </p:nvSpPr>
        <p:spPr>
          <a:xfrm>
            <a:off x="5527548" y="344728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25" name="Shape 323"/>
          <p:cNvSpPr/>
          <p:nvPr/>
        </p:nvSpPr>
        <p:spPr>
          <a:xfrm>
            <a:off x="5632704" y="344728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26" name="Shape 324"/>
          <p:cNvSpPr/>
          <p:nvPr/>
        </p:nvSpPr>
        <p:spPr>
          <a:xfrm>
            <a:off x="5737860" y="344728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27" name="Shape 325"/>
          <p:cNvSpPr/>
          <p:nvPr/>
        </p:nvSpPr>
        <p:spPr>
          <a:xfrm>
            <a:off x="5843016" y="344728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28" name="Shape 326"/>
          <p:cNvSpPr/>
          <p:nvPr/>
        </p:nvSpPr>
        <p:spPr>
          <a:xfrm>
            <a:off x="5948172" y="344728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29" name="Shape 327"/>
          <p:cNvSpPr/>
          <p:nvPr/>
        </p:nvSpPr>
        <p:spPr>
          <a:xfrm>
            <a:off x="5212080" y="3491179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330" name="Shape 328"/>
          <p:cNvSpPr/>
          <p:nvPr/>
        </p:nvSpPr>
        <p:spPr>
          <a:xfrm>
            <a:off x="5317236" y="3491179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331" name="Shape 329"/>
          <p:cNvSpPr/>
          <p:nvPr/>
        </p:nvSpPr>
        <p:spPr>
          <a:xfrm>
            <a:off x="5422392" y="3491179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332" name="Shape 330"/>
          <p:cNvSpPr/>
          <p:nvPr/>
        </p:nvSpPr>
        <p:spPr>
          <a:xfrm>
            <a:off x="5527548" y="3491179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333" name="Shape 331"/>
          <p:cNvSpPr/>
          <p:nvPr/>
        </p:nvSpPr>
        <p:spPr>
          <a:xfrm>
            <a:off x="5632704" y="3491179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334" name="Shape 332"/>
          <p:cNvSpPr/>
          <p:nvPr/>
        </p:nvSpPr>
        <p:spPr>
          <a:xfrm>
            <a:off x="5737860" y="3491179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335" name="Shape 333"/>
          <p:cNvSpPr/>
          <p:nvPr/>
        </p:nvSpPr>
        <p:spPr>
          <a:xfrm>
            <a:off x="5843016" y="3491179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336" name="Shape 334"/>
          <p:cNvSpPr/>
          <p:nvPr/>
        </p:nvSpPr>
        <p:spPr>
          <a:xfrm>
            <a:off x="5948172" y="3491179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337" name="Shape 335"/>
          <p:cNvSpPr/>
          <p:nvPr/>
        </p:nvSpPr>
        <p:spPr>
          <a:xfrm>
            <a:off x="5212080" y="353507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38" name="Shape 336"/>
          <p:cNvSpPr/>
          <p:nvPr/>
        </p:nvSpPr>
        <p:spPr>
          <a:xfrm>
            <a:off x="5317236" y="353507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39" name="Shape 337"/>
          <p:cNvSpPr/>
          <p:nvPr/>
        </p:nvSpPr>
        <p:spPr>
          <a:xfrm>
            <a:off x="5422392" y="353507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40" name="Shape 338"/>
          <p:cNvSpPr/>
          <p:nvPr/>
        </p:nvSpPr>
        <p:spPr>
          <a:xfrm>
            <a:off x="5527548" y="353507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41" name="Shape 339"/>
          <p:cNvSpPr/>
          <p:nvPr/>
        </p:nvSpPr>
        <p:spPr>
          <a:xfrm>
            <a:off x="5632704" y="353507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42" name="Shape 340"/>
          <p:cNvSpPr/>
          <p:nvPr/>
        </p:nvSpPr>
        <p:spPr>
          <a:xfrm>
            <a:off x="5737860" y="353507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43" name="Shape 341"/>
          <p:cNvSpPr/>
          <p:nvPr/>
        </p:nvSpPr>
        <p:spPr>
          <a:xfrm>
            <a:off x="5843016" y="353507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44" name="Shape 342"/>
          <p:cNvSpPr/>
          <p:nvPr/>
        </p:nvSpPr>
        <p:spPr>
          <a:xfrm>
            <a:off x="5948172" y="353507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45" name="Shape 343"/>
          <p:cNvSpPr/>
          <p:nvPr/>
        </p:nvSpPr>
        <p:spPr>
          <a:xfrm>
            <a:off x="8321040" y="2496312"/>
            <a:ext cx="3794760" cy="1152144"/>
          </a:xfrm>
          <a:prstGeom prst="roundRect">
            <a:avLst>
              <a:gd name="adj" fmla="val 634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346" name="Text 344"/>
          <p:cNvSpPr/>
          <p:nvPr/>
        </p:nvSpPr>
        <p:spPr>
          <a:xfrm>
            <a:off x="8430768" y="2587752"/>
            <a:ext cx="685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F78166"/>
                </a:solidFill>
              </a:rPr>
              <a:t>♔</a:t>
            </a:r>
            <a:endParaRPr lang="en-US" sz="3800" dirty="0"/>
          </a:p>
        </p:txBody>
      </p:sp>
      <p:sp>
        <p:nvSpPr>
          <p:cNvPr id="347" name="Text 345"/>
          <p:cNvSpPr/>
          <p:nvPr/>
        </p:nvSpPr>
        <p:spPr>
          <a:xfrm>
            <a:off x="9189720" y="2633472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781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WhiteKing</a:t>
            </a:r>
            <a:endParaRPr lang="en-US" sz="1300" dirty="0"/>
          </a:p>
        </p:txBody>
      </p:sp>
      <p:sp>
        <p:nvSpPr>
          <p:cNvPr id="348" name="Text 346"/>
          <p:cNvSpPr/>
          <p:nvPr/>
        </p:nvSpPr>
        <p:spPr>
          <a:xfrm>
            <a:off x="9189720" y="2953512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0x0000000000000010</a:t>
            </a:r>
            <a:endParaRPr lang="en-US" sz="950" dirty="0"/>
          </a:p>
        </p:txBody>
      </p:sp>
      <p:sp>
        <p:nvSpPr>
          <p:cNvPr id="349" name="Shape 347"/>
          <p:cNvSpPr/>
          <p:nvPr/>
        </p:nvSpPr>
        <p:spPr>
          <a:xfrm>
            <a:off x="9189720" y="32278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50" name="Shape 348"/>
          <p:cNvSpPr/>
          <p:nvPr/>
        </p:nvSpPr>
        <p:spPr>
          <a:xfrm>
            <a:off x="9294876" y="32278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51" name="Shape 349"/>
          <p:cNvSpPr/>
          <p:nvPr/>
        </p:nvSpPr>
        <p:spPr>
          <a:xfrm>
            <a:off x="9400032" y="32278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52" name="Shape 350"/>
          <p:cNvSpPr/>
          <p:nvPr/>
        </p:nvSpPr>
        <p:spPr>
          <a:xfrm>
            <a:off x="9505188" y="32278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53" name="Shape 351"/>
          <p:cNvSpPr/>
          <p:nvPr/>
        </p:nvSpPr>
        <p:spPr>
          <a:xfrm>
            <a:off x="9610344" y="32278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54" name="Shape 352"/>
          <p:cNvSpPr/>
          <p:nvPr/>
        </p:nvSpPr>
        <p:spPr>
          <a:xfrm>
            <a:off x="9715500" y="32278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55" name="Shape 353"/>
          <p:cNvSpPr/>
          <p:nvPr/>
        </p:nvSpPr>
        <p:spPr>
          <a:xfrm>
            <a:off x="9820656" y="32278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56" name="Shape 354"/>
          <p:cNvSpPr/>
          <p:nvPr/>
        </p:nvSpPr>
        <p:spPr>
          <a:xfrm>
            <a:off x="9925812" y="32278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57" name="Shape 355"/>
          <p:cNvSpPr/>
          <p:nvPr/>
        </p:nvSpPr>
        <p:spPr>
          <a:xfrm>
            <a:off x="9189720" y="32717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58" name="Shape 356"/>
          <p:cNvSpPr/>
          <p:nvPr/>
        </p:nvSpPr>
        <p:spPr>
          <a:xfrm>
            <a:off x="9294876" y="32717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59" name="Shape 357"/>
          <p:cNvSpPr/>
          <p:nvPr/>
        </p:nvSpPr>
        <p:spPr>
          <a:xfrm>
            <a:off x="9400032" y="32717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60" name="Shape 358"/>
          <p:cNvSpPr/>
          <p:nvPr/>
        </p:nvSpPr>
        <p:spPr>
          <a:xfrm>
            <a:off x="9505188" y="32717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61" name="Shape 359"/>
          <p:cNvSpPr/>
          <p:nvPr/>
        </p:nvSpPr>
        <p:spPr>
          <a:xfrm>
            <a:off x="9610344" y="32717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62" name="Shape 360"/>
          <p:cNvSpPr/>
          <p:nvPr/>
        </p:nvSpPr>
        <p:spPr>
          <a:xfrm>
            <a:off x="9715500" y="32717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63" name="Shape 361"/>
          <p:cNvSpPr/>
          <p:nvPr/>
        </p:nvSpPr>
        <p:spPr>
          <a:xfrm>
            <a:off x="9820656" y="32717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64" name="Shape 362"/>
          <p:cNvSpPr/>
          <p:nvPr/>
        </p:nvSpPr>
        <p:spPr>
          <a:xfrm>
            <a:off x="9925812" y="32717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65" name="Shape 363"/>
          <p:cNvSpPr/>
          <p:nvPr/>
        </p:nvSpPr>
        <p:spPr>
          <a:xfrm>
            <a:off x="9189720" y="33156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66" name="Shape 364"/>
          <p:cNvSpPr/>
          <p:nvPr/>
        </p:nvSpPr>
        <p:spPr>
          <a:xfrm>
            <a:off x="9294876" y="33156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67" name="Shape 365"/>
          <p:cNvSpPr/>
          <p:nvPr/>
        </p:nvSpPr>
        <p:spPr>
          <a:xfrm>
            <a:off x="9400032" y="33156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68" name="Shape 366"/>
          <p:cNvSpPr/>
          <p:nvPr/>
        </p:nvSpPr>
        <p:spPr>
          <a:xfrm>
            <a:off x="9505188" y="33156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69" name="Shape 367"/>
          <p:cNvSpPr/>
          <p:nvPr/>
        </p:nvSpPr>
        <p:spPr>
          <a:xfrm>
            <a:off x="9610344" y="33156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70" name="Shape 368"/>
          <p:cNvSpPr/>
          <p:nvPr/>
        </p:nvSpPr>
        <p:spPr>
          <a:xfrm>
            <a:off x="9715500" y="33156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71" name="Shape 369"/>
          <p:cNvSpPr/>
          <p:nvPr/>
        </p:nvSpPr>
        <p:spPr>
          <a:xfrm>
            <a:off x="9820656" y="33156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72" name="Shape 370"/>
          <p:cNvSpPr/>
          <p:nvPr/>
        </p:nvSpPr>
        <p:spPr>
          <a:xfrm>
            <a:off x="9925812" y="33156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73" name="Shape 371"/>
          <p:cNvSpPr/>
          <p:nvPr/>
        </p:nvSpPr>
        <p:spPr>
          <a:xfrm>
            <a:off x="9189720" y="335950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74" name="Shape 372"/>
          <p:cNvSpPr/>
          <p:nvPr/>
        </p:nvSpPr>
        <p:spPr>
          <a:xfrm>
            <a:off x="9294876" y="335950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75" name="Shape 373"/>
          <p:cNvSpPr/>
          <p:nvPr/>
        </p:nvSpPr>
        <p:spPr>
          <a:xfrm>
            <a:off x="9400032" y="335950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76" name="Shape 374"/>
          <p:cNvSpPr/>
          <p:nvPr/>
        </p:nvSpPr>
        <p:spPr>
          <a:xfrm>
            <a:off x="9505188" y="335950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77" name="Shape 375"/>
          <p:cNvSpPr/>
          <p:nvPr/>
        </p:nvSpPr>
        <p:spPr>
          <a:xfrm>
            <a:off x="9610344" y="335950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78" name="Shape 376"/>
          <p:cNvSpPr/>
          <p:nvPr/>
        </p:nvSpPr>
        <p:spPr>
          <a:xfrm>
            <a:off x="9715500" y="335950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79" name="Shape 377"/>
          <p:cNvSpPr/>
          <p:nvPr/>
        </p:nvSpPr>
        <p:spPr>
          <a:xfrm>
            <a:off x="9820656" y="335950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80" name="Shape 378"/>
          <p:cNvSpPr/>
          <p:nvPr/>
        </p:nvSpPr>
        <p:spPr>
          <a:xfrm>
            <a:off x="9925812" y="335950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81" name="Shape 379"/>
          <p:cNvSpPr/>
          <p:nvPr/>
        </p:nvSpPr>
        <p:spPr>
          <a:xfrm>
            <a:off x="9189720" y="3403397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82" name="Shape 380"/>
          <p:cNvSpPr/>
          <p:nvPr/>
        </p:nvSpPr>
        <p:spPr>
          <a:xfrm>
            <a:off x="9294876" y="3403397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83" name="Shape 381"/>
          <p:cNvSpPr/>
          <p:nvPr/>
        </p:nvSpPr>
        <p:spPr>
          <a:xfrm>
            <a:off x="9400032" y="3403397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84" name="Shape 382"/>
          <p:cNvSpPr/>
          <p:nvPr/>
        </p:nvSpPr>
        <p:spPr>
          <a:xfrm>
            <a:off x="9505188" y="3403397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85" name="Shape 383"/>
          <p:cNvSpPr/>
          <p:nvPr/>
        </p:nvSpPr>
        <p:spPr>
          <a:xfrm>
            <a:off x="9610344" y="3403397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86" name="Shape 384"/>
          <p:cNvSpPr/>
          <p:nvPr/>
        </p:nvSpPr>
        <p:spPr>
          <a:xfrm>
            <a:off x="9715500" y="3403397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87" name="Shape 385"/>
          <p:cNvSpPr/>
          <p:nvPr/>
        </p:nvSpPr>
        <p:spPr>
          <a:xfrm>
            <a:off x="9820656" y="3403397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88" name="Shape 386"/>
          <p:cNvSpPr/>
          <p:nvPr/>
        </p:nvSpPr>
        <p:spPr>
          <a:xfrm>
            <a:off x="9925812" y="3403397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89" name="Shape 387"/>
          <p:cNvSpPr/>
          <p:nvPr/>
        </p:nvSpPr>
        <p:spPr>
          <a:xfrm>
            <a:off x="9189720" y="344728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90" name="Shape 388"/>
          <p:cNvSpPr/>
          <p:nvPr/>
        </p:nvSpPr>
        <p:spPr>
          <a:xfrm>
            <a:off x="9294876" y="344728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91" name="Shape 389"/>
          <p:cNvSpPr/>
          <p:nvPr/>
        </p:nvSpPr>
        <p:spPr>
          <a:xfrm>
            <a:off x="9400032" y="344728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92" name="Shape 390"/>
          <p:cNvSpPr/>
          <p:nvPr/>
        </p:nvSpPr>
        <p:spPr>
          <a:xfrm>
            <a:off x="9505188" y="344728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93" name="Shape 391"/>
          <p:cNvSpPr/>
          <p:nvPr/>
        </p:nvSpPr>
        <p:spPr>
          <a:xfrm>
            <a:off x="9610344" y="344728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94" name="Shape 392"/>
          <p:cNvSpPr/>
          <p:nvPr/>
        </p:nvSpPr>
        <p:spPr>
          <a:xfrm>
            <a:off x="9715500" y="344728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95" name="Shape 393"/>
          <p:cNvSpPr/>
          <p:nvPr/>
        </p:nvSpPr>
        <p:spPr>
          <a:xfrm>
            <a:off x="9820656" y="344728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96" name="Shape 394"/>
          <p:cNvSpPr/>
          <p:nvPr/>
        </p:nvSpPr>
        <p:spPr>
          <a:xfrm>
            <a:off x="9925812" y="344728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97" name="Shape 395"/>
          <p:cNvSpPr/>
          <p:nvPr/>
        </p:nvSpPr>
        <p:spPr>
          <a:xfrm>
            <a:off x="9189720" y="3491179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398" name="Shape 396"/>
          <p:cNvSpPr/>
          <p:nvPr/>
        </p:nvSpPr>
        <p:spPr>
          <a:xfrm>
            <a:off x="9294876" y="3491179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399" name="Shape 397"/>
          <p:cNvSpPr/>
          <p:nvPr/>
        </p:nvSpPr>
        <p:spPr>
          <a:xfrm>
            <a:off x="9400032" y="3491179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400" name="Shape 398"/>
          <p:cNvSpPr/>
          <p:nvPr/>
        </p:nvSpPr>
        <p:spPr>
          <a:xfrm>
            <a:off x="9505188" y="3491179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401" name="Shape 399"/>
          <p:cNvSpPr/>
          <p:nvPr/>
        </p:nvSpPr>
        <p:spPr>
          <a:xfrm>
            <a:off x="9610344" y="3491179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402" name="Shape 400"/>
          <p:cNvSpPr/>
          <p:nvPr/>
        </p:nvSpPr>
        <p:spPr>
          <a:xfrm>
            <a:off x="9715500" y="3491179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403" name="Shape 401"/>
          <p:cNvSpPr/>
          <p:nvPr/>
        </p:nvSpPr>
        <p:spPr>
          <a:xfrm>
            <a:off x="9820656" y="3491179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404" name="Shape 402"/>
          <p:cNvSpPr/>
          <p:nvPr/>
        </p:nvSpPr>
        <p:spPr>
          <a:xfrm>
            <a:off x="9925812" y="3491179"/>
            <a:ext cx="91440" cy="36576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405" name="Shape 403"/>
          <p:cNvSpPr/>
          <p:nvPr/>
        </p:nvSpPr>
        <p:spPr>
          <a:xfrm>
            <a:off x="9189720" y="353507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06" name="Shape 404"/>
          <p:cNvSpPr/>
          <p:nvPr/>
        </p:nvSpPr>
        <p:spPr>
          <a:xfrm>
            <a:off x="9294876" y="353507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07" name="Shape 405"/>
          <p:cNvSpPr/>
          <p:nvPr/>
        </p:nvSpPr>
        <p:spPr>
          <a:xfrm>
            <a:off x="9400032" y="353507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08" name="Shape 406"/>
          <p:cNvSpPr/>
          <p:nvPr/>
        </p:nvSpPr>
        <p:spPr>
          <a:xfrm>
            <a:off x="9505188" y="353507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09" name="Shape 407"/>
          <p:cNvSpPr/>
          <p:nvPr/>
        </p:nvSpPr>
        <p:spPr>
          <a:xfrm>
            <a:off x="9610344" y="353507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10" name="Shape 408"/>
          <p:cNvSpPr/>
          <p:nvPr/>
        </p:nvSpPr>
        <p:spPr>
          <a:xfrm>
            <a:off x="9715500" y="353507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11" name="Shape 409"/>
          <p:cNvSpPr/>
          <p:nvPr/>
        </p:nvSpPr>
        <p:spPr>
          <a:xfrm>
            <a:off x="9820656" y="353507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12" name="Shape 410"/>
          <p:cNvSpPr/>
          <p:nvPr/>
        </p:nvSpPr>
        <p:spPr>
          <a:xfrm>
            <a:off x="9925812" y="353507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13" name="Shape 411"/>
          <p:cNvSpPr/>
          <p:nvPr/>
        </p:nvSpPr>
        <p:spPr>
          <a:xfrm>
            <a:off x="365760" y="3758184"/>
            <a:ext cx="3794760" cy="1152144"/>
          </a:xfrm>
          <a:prstGeom prst="roundRect">
            <a:avLst>
              <a:gd name="adj" fmla="val 634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414" name="Text 412"/>
          <p:cNvSpPr/>
          <p:nvPr/>
        </p:nvSpPr>
        <p:spPr>
          <a:xfrm>
            <a:off x="475488" y="3849624"/>
            <a:ext cx="685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79C0FF"/>
                </a:solidFill>
              </a:rPr>
              <a:t>♟</a:t>
            </a:r>
            <a:endParaRPr lang="en-US" sz="3800" dirty="0"/>
          </a:p>
        </p:txBody>
      </p:sp>
      <p:sp>
        <p:nvSpPr>
          <p:cNvPr id="415" name="Text 413"/>
          <p:cNvSpPr/>
          <p:nvPr/>
        </p:nvSpPr>
        <p:spPr>
          <a:xfrm>
            <a:off x="1234440" y="3895344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9C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BlackPawns</a:t>
            </a:r>
            <a:endParaRPr lang="en-US" sz="1300" dirty="0"/>
          </a:p>
        </p:txBody>
      </p:sp>
      <p:sp>
        <p:nvSpPr>
          <p:cNvPr id="416" name="Text 414"/>
          <p:cNvSpPr/>
          <p:nvPr/>
        </p:nvSpPr>
        <p:spPr>
          <a:xfrm>
            <a:off x="1234440" y="4215384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0x00FF000000000000</a:t>
            </a:r>
            <a:endParaRPr lang="en-US" sz="950" dirty="0"/>
          </a:p>
        </p:txBody>
      </p:sp>
      <p:sp>
        <p:nvSpPr>
          <p:cNvPr id="417" name="Shape 415"/>
          <p:cNvSpPr/>
          <p:nvPr/>
        </p:nvSpPr>
        <p:spPr>
          <a:xfrm>
            <a:off x="1234440" y="448970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18" name="Shape 416"/>
          <p:cNvSpPr/>
          <p:nvPr/>
        </p:nvSpPr>
        <p:spPr>
          <a:xfrm>
            <a:off x="1339596" y="448970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19" name="Shape 417"/>
          <p:cNvSpPr/>
          <p:nvPr/>
        </p:nvSpPr>
        <p:spPr>
          <a:xfrm>
            <a:off x="1444752" y="448970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20" name="Shape 418"/>
          <p:cNvSpPr/>
          <p:nvPr/>
        </p:nvSpPr>
        <p:spPr>
          <a:xfrm>
            <a:off x="1549908" y="448970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21" name="Shape 419"/>
          <p:cNvSpPr/>
          <p:nvPr/>
        </p:nvSpPr>
        <p:spPr>
          <a:xfrm>
            <a:off x="1655064" y="448970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22" name="Shape 420"/>
          <p:cNvSpPr/>
          <p:nvPr/>
        </p:nvSpPr>
        <p:spPr>
          <a:xfrm>
            <a:off x="1760220" y="448970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23" name="Shape 421"/>
          <p:cNvSpPr/>
          <p:nvPr/>
        </p:nvSpPr>
        <p:spPr>
          <a:xfrm>
            <a:off x="1865376" y="448970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24" name="Shape 422"/>
          <p:cNvSpPr/>
          <p:nvPr/>
        </p:nvSpPr>
        <p:spPr>
          <a:xfrm>
            <a:off x="1970532" y="448970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25" name="Shape 423"/>
          <p:cNvSpPr/>
          <p:nvPr/>
        </p:nvSpPr>
        <p:spPr>
          <a:xfrm>
            <a:off x="1234440" y="4533595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426" name="Shape 424"/>
          <p:cNvSpPr/>
          <p:nvPr/>
        </p:nvSpPr>
        <p:spPr>
          <a:xfrm>
            <a:off x="1339596" y="4533595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427" name="Shape 425"/>
          <p:cNvSpPr/>
          <p:nvPr/>
        </p:nvSpPr>
        <p:spPr>
          <a:xfrm>
            <a:off x="1444752" y="4533595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428" name="Shape 426"/>
          <p:cNvSpPr/>
          <p:nvPr/>
        </p:nvSpPr>
        <p:spPr>
          <a:xfrm>
            <a:off x="1549908" y="4533595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429" name="Shape 427"/>
          <p:cNvSpPr/>
          <p:nvPr/>
        </p:nvSpPr>
        <p:spPr>
          <a:xfrm>
            <a:off x="1655064" y="4533595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430" name="Shape 428"/>
          <p:cNvSpPr/>
          <p:nvPr/>
        </p:nvSpPr>
        <p:spPr>
          <a:xfrm>
            <a:off x="1760220" y="4533595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431" name="Shape 429"/>
          <p:cNvSpPr/>
          <p:nvPr/>
        </p:nvSpPr>
        <p:spPr>
          <a:xfrm>
            <a:off x="1865376" y="4533595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432" name="Shape 430"/>
          <p:cNvSpPr/>
          <p:nvPr/>
        </p:nvSpPr>
        <p:spPr>
          <a:xfrm>
            <a:off x="1970532" y="4533595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433" name="Shape 431"/>
          <p:cNvSpPr/>
          <p:nvPr/>
        </p:nvSpPr>
        <p:spPr>
          <a:xfrm>
            <a:off x="1234440" y="457748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34" name="Shape 432"/>
          <p:cNvSpPr/>
          <p:nvPr/>
        </p:nvSpPr>
        <p:spPr>
          <a:xfrm>
            <a:off x="1339596" y="457748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35" name="Shape 433"/>
          <p:cNvSpPr/>
          <p:nvPr/>
        </p:nvSpPr>
        <p:spPr>
          <a:xfrm>
            <a:off x="1444752" y="457748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36" name="Shape 434"/>
          <p:cNvSpPr/>
          <p:nvPr/>
        </p:nvSpPr>
        <p:spPr>
          <a:xfrm>
            <a:off x="1549908" y="457748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37" name="Shape 435"/>
          <p:cNvSpPr/>
          <p:nvPr/>
        </p:nvSpPr>
        <p:spPr>
          <a:xfrm>
            <a:off x="1655064" y="457748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38" name="Shape 436"/>
          <p:cNvSpPr/>
          <p:nvPr/>
        </p:nvSpPr>
        <p:spPr>
          <a:xfrm>
            <a:off x="1760220" y="457748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39" name="Shape 437"/>
          <p:cNvSpPr/>
          <p:nvPr/>
        </p:nvSpPr>
        <p:spPr>
          <a:xfrm>
            <a:off x="1865376" y="457748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40" name="Shape 438"/>
          <p:cNvSpPr/>
          <p:nvPr/>
        </p:nvSpPr>
        <p:spPr>
          <a:xfrm>
            <a:off x="1970532" y="457748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41" name="Shape 439"/>
          <p:cNvSpPr/>
          <p:nvPr/>
        </p:nvSpPr>
        <p:spPr>
          <a:xfrm>
            <a:off x="1234440" y="462137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42" name="Shape 440"/>
          <p:cNvSpPr/>
          <p:nvPr/>
        </p:nvSpPr>
        <p:spPr>
          <a:xfrm>
            <a:off x="1339596" y="462137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43" name="Shape 441"/>
          <p:cNvSpPr/>
          <p:nvPr/>
        </p:nvSpPr>
        <p:spPr>
          <a:xfrm>
            <a:off x="1444752" y="462137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44" name="Shape 442"/>
          <p:cNvSpPr/>
          <p:nvPr/>
        </p:nvSpPr>
        <p:spPr>
          <a:xfrm>
            <a:off x="1549908" y="462137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45" name="Shape 443"/>
          <p:cNvSpPr/>
          <p:nvPr/>
        </p:nvSpPr>
        <p:spPr>
          <a:xfrm>
            <a:off x="1655064" y="462137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46" name="Shape 444"/>
          <p:cNvSpPr/>
          <p:nvPr/>
        </p:nvSpPr>
        <p:spPr>
          <a:xfrm>
            <a:off x="1760220" y="462137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47" name="Shape 445"/>
          <p:cNvSpPr/>
          <p:nvPr/>
        </p:nvSpPr>
        <p:spPr>
          <a:xfrm>
            <a:off x="1865376" y="462137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48" name="Shape 446"/>
          <p:cNvSpPr/>
          <p:nvPr/>
        </p:nvSpPr>
        <p:spPr>
          <a:xfrm>
            <a:off x="1970532" y="462137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49" name="Shape 447"/>
          <p:cNvSpPr/>
          <p:nvPr/>
        </p:nvSpPr>
        <p:spPr>
          <a:xfrm>
            <a:off x="1234440" y="4665269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50" name="Shape 448"/>
          <p:cNvSpPr/>
          <p:nvPr/>
        </p:nvSpPr>
        <p:spPr>
          <a:xfrm>
            <a:off x="1339596" y="4665269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51" name="Shape 449"/>
          <p:cNvSpPr/>
          <p:nvPr/>
        </p:nvSpPr>
        <p:spPr>
          <a:xfrm>
            <a:off x="1444752" y="4665269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52" name="Shape 450"/>
          <p:cNvSpPr/>
          <p:nvPr/>
        </p:nvSpPr>
        <p:spPr>
          <a:xfrm>
            <a:off x="1549908" y="4665269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53" name="Shape 451"/>
          <p:cNvSpPr/>
          <p:nvPr/>
        </p:nvSpPr>
        <p:spPr>
          <a:xfrm>
            <a:off x="1655064" y="4665269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54" name="Shape 452"/>
          <p:cNvSpPr/>
          <p:nvPr/>
        </p:nvSpPr>
        <p:spPr>
          <a:xfrm>
            <a:off x="1760220" y="4665269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55" name="Shape 453"/>
          <p:cNvSpPr/>
          <p:nvPr/>
        </p:nvSpPr>
        <p:spPr>
          <a:xfrm>
            <a:off x="1865376" y="4665269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56" name="Shape 454"/>
          <p:cNvSpPr/>
          <p:nvPr/>
        </p:nvSpPr>
        <p:spPr>
          <a:xfrm>
            <a:off x="1970532" y="4665269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57" name="Shape 455"/>
          <p:cNvSpPr/>
          <p:nvPr/>
        </p:nvSpPr>
        <p:spPr>
          <a:xfrm>
            <a:off x="1234440" y="47091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58" name="Shape 456"/>
          <p:cNvSpPr/>
          <p:nvPr/>
        </p:nvSpPr>
        <p:spPr>
          <a:xfrm>
            <a:off x="1339596" y="47091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59" name="Shape 457"/>
          <p:cNvSpPr/>
          <p:nvPr/>
        </p:nvSpPr>
        <p:spPr>
          <a:xfrm>
            <a:off x="1444752" y="47091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60" name="Shape 458"/>
          <p:cNvSpPr/>
          <p:nvPr/>
        </p:nvSpPr>
        <p:spPr>
          <a:xfrm>
            <a:off x="1549908" y="47091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61" name="Shape 459"/>
          <p:cNvSpPr/>
          <p:nvPr/>
        </p:nvSpPr>
        <p:spPr>
          <a:xfrm>
            <a:off x="1655064" y="47091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62" name="Shape 460"/>
          <p:cNvSpPr/>
          <p:nvPr/>
        </p:nvSpPr>
        <p:spPr>
          <a:xfrm>
            <a:off x="1760220" y="47091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63" name="Shape 461"/>
          <p:cNvSpPr/>
          <p:nvPr/>
        </p:nvSpPr>
        <p:spPr>
          <a:xfrm>
            <a:off x="1865376" y="47091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64" name="Shape 462"/>
          <p:cNvSpPr/>
          <p:nvPr/>
        </p:nvSpPr>
        <p:spPr>
          <a:xfrm>
            <a:off x="1970532" y="47091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65" name="Shape 463"/>
          <p:cNvSpPr/>
          <p:nvPr/>
        </p:nvSpPr>
        <p:spPr>
          <a:xfrm>
            <a:off x="1234440" y="47530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66" name="Shape 464"/>
          <p:cNvSpPr/>
          <p:nvPr/>
        </p:nvSpPr>
        <p:spPr>
          <a:xfrm>
            <a:off x="1339596" y="47530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67" name="Shape 465"/>
          <p:cNvSpPr/>
          <p:nvPr/>
        </p:nvSpPr>
        <p:spPr>
          <a:xfrm>
            <a:off x="1444752" y="47530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68" name="Shape 466"/>
          <p:cNvSpPr/>
          <p:nvPr/>
        </p:nvSpPr>
        <p:spPr>
          <a:xfrm>
            <a:off x="1549908" y="47530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69" name="Shape 467"/>
          <p:cNvSpPr/>
          <p:nvPr/>
        </p:nvSpPr>
        <p:spPr>
          <a:xfrm>
            <a:off x="1655064" y="47530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70" name="Shape 468"/>
          <p:cNvSpPr/>
          <p:nvPr/>
        </p:nvSpPr>
        <p:spPr>
          <a:xfrm>
            <a:off x="1760220" y="47530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71" name="Shape 469"/>
          <p:cNvSpPr/>
          <p:nvPr/>
        </p:nvSpPr>
        <p:spPr>
          <a:xfrm>
            <a:off x="1865376" y="47530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72" name="Shape 470"/>
          <p:cNvSpPr/>
          <p:nvPr/>
        </p:nvSpPr>
        <p:spPr>
          <a:xfrm>
            <a:off x="1970532" y="47530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73" name="Shape 471"/>
          <p:cNvSpPr/>
          <p:nvPr/>
        </p:nvSpPr>
        <p:spPr>
          <a:xfrm>
            <a:off x="1234440" y="47969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74" name="Shape 472"/>
          <p:cNvSpPr/>
          <p:nvPr/>
        </p:nvSpPr>
        <p:spPr>
          <a:xfrm>
            <a:off x="1339596" y="47969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75" name="Shape 473"/>
          <p:cNvSpPr/>
          <p:nvPr/>
        </p:nvSpPr>
        <p:spPr>
          <a:xfrm>
            <a:off x="1444752" y="47969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76" name="Shape 474"/>
          <p:cNvSpPr/>
          <p:nvPr/>
        </p:nvSpPr>
        <p:spPr>
          <a:xfrm>
            <a:off x="1549908" y="47969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77" name="Shape 475"/>
          <p:cNvSpPr/>
          <p:nvPr/>
        </p:nvSpPr>
        <p:spPr>
          <a:xfrm>
            <a:off x="1655064" y="47969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78" name="Shape 476"/>
          <p:cNvSpPr/>
          <p:nvPr/>
        </p:nvSpPr>
        <p:spPr>
          <a:xfrm>
            <a:off x="1760220" y="47969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79" name="Shape 477"/>
          <p:cNvSpPr/>
          <p:nvPr/>
        </p:nvSpPr>
        <p:spPr>
          <a:xfrm>
            <a:off x="1865376" y="47969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80" name="Shape 478"/>
          <p:cNvSpPr/>
          <p:nvPr/>
        </p:nvSpPr>
        <p:spPr>
          <a:xfrm>
            <a:off x="1970532" y="47969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81" name="Shape 479"/>
          <p:cNvSpPr/>
          <p:nvPr/>
        </p:nvSpPr>
        <p:spPr>
          <a:xfrm>
            <a:off x="4343400" y="3758184"/>
            <a:ext cx="3794760" cy="1152144"/>
          </a:xfrm>
          <a:prstGeom prst="roundRect">
            <a:avLst>
              <a:gd name="adj" fmla="val 634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482" name="Text 480"/>
          <p:cNvSpPr/>
          <p:nvPr/>
        </p:nvSpPr>
        <p:spPr>
          <a:xfrm>
            <a:off x="4453128" y="3849624"/>
            <a:ext cx="685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79C0FF"/>
                </a:solidFill>
              </a:rPr>
              <a:t>♞</a:t>
            </a:r>
            <a:endParaRPr lang="en-US" sz="3800" dirty="0"/>
          </a:p>
        </p:txBody>
      </p:sp>
      <p:sp>
        <p:nvSpPr>
          <p:cNvPr id="483" name="Text 481"/>
          <p:cNvSpPr/>
          <p:nvPr/>
        </p:nvSpPr>
        <p:spPr>
          <a:xfrm>
            <a:off x="5212080" y="3895344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9C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BlackKnights</a:t>
            </a:r>
            <a:endParaRPr lang="en-US" sz="1300" dirty="0"/>
          </a:p>
        </p:txBody>
      </p:sp>
      <p:sp>
        <p:nvSpPr>
          <p:cNvPr id="484" name="Text 482"/>
          <p:cNvSpPr/>
          <p:nvPr/>
        </p:nvSpPr>
        <p:spPr>
          <a:xfrm>
            <a:off x="5212080" y="4215384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0x4200000000000000</a:t>
            </a:r>
            <a:endParaRPr lang="en-US" sz="950" dirty="0"/>
          </a:p>
        </p:txBody>
      </p:sp>
      <p:sp>
        <p:nvSpPr>
          <p:cNvPr id="485" name="Shape 483"/>
          <p:cNvSpPr/>
          <p:nvPr/>
        </p:nvSpPr>
        <p:spPr>
          <a:xfrm>
            <a:off x="5212080" y="448970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86" name="Shape 484"/>
          <p:cNvSpPr/>
          <p:nvPr/>
        </p:nvSpPr>
        <p:spPr>
          <a:xfrm>
            <a:off x="5317236" y="448970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87" name="Shape 485"/>
          <p:cNvSpPr/>
          <p:nvPr/>
        </p:nvSpPr>
        <p:spPr>
          <a:xfrm>
            <a:off x="5422392" y="448970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88" name="Shape 486"/>
          <p:cNvSpPr/>
          <p:nvPr/>
        </p:nvSpPr>
        <p:spPr>
          <a:xfrm>
            <a:off x="5527548" y="448970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89" name="Shape 487"/>
          <p:cNvSpPr/>
          <p:nvPr/>
        </p:nvSpPr>
        <p:spPr>
          <a:xfrm>
            <a:off x="5632704" y="448970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90" name="Shape 488"/>
          <p:cNvSpPr/>
          <p:nvPr/>
        </p:nvSpPr>
        <p:spPr>
          <a:xfrm>
            <a:off x="5737860" y="448970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91" name="Shape 489"/>
          <p:cNvSpPr/>
          <p:nvPr/>
        </p:nvSpPr>
        <p:spPr>
          <a:xfrm>
            <a:off x="5843016" y="448970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92" name="Shape 490"/>
          <p:cNvSpPr/>
          <p:nvPr/>
        </p:nvSpPr>
        <p:spPr>
          <a:xfrm>
            <a:off x="5948172" y="448970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93" name="Shape 491"/>
          <p:cNvSpPr/>
          <p:nvPr/>
        </p:nvSpPr>
        <p:spPr>
          <a:xfrm>
            <a:off x="5212080" y="4533595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494" name="Shape 492"/>
          <p:cNvSpPr/>
          <p:nvPr/>
        </p:nvSpPr>
        <p:spPr>
          <a:xfrm>
            <a:off x="5317236" y="4533595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495" name="Shape 493"/>
          <p:cNvSpPr/>
          <p:nvPr/>
        </p:nvSpPr>
        <p:spPr>
          <a:xfrm>
            <a:off x="5422392" y="4533595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496" name="Shape 494"/>
          <p:cNvSpPr/>
          <p:nvPr/>
        </p:nvSpPr>
        <p:spPr>
          <a:xfrm>
            <a:off x="5527548" y="4533595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497" name="Shape 495"/>
          <p:cNvSpPr/>
          <p:nvPr/>
        </p:nvSpPr>
        <p:spPr>
          <a:xfrm>
            <a:off x="5632704" y="4533595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498" name="Shape 496"/>
          <p:cNvSpPr/>
          <p:nvPr/>
        </p:nvSpPr>
        <p:spPr>
          <a:xfrm>
            <a:off x="5737860" y="4533595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499" name="Shape 497"/>
          <p:cNvSpPr/>
          <p:nvPr/>
        </p:nvSpPr>
        <p:spPr>
          <a:xfrm>
            <a:off x="5843016" y="4533595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500" name="Shape 498"/>
          <p:cNvSpPr/>
          <p:nvPr/>
        </p:nvSpPr>
        <p:spPr>
          <a:xfrm>
            <a:off x="5948172" y="4533595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501" name="Shape 499"/>
          <p:cNvSpPr/>
          <p:nvPr/>
        </p:nvSpPr>
        <p:spPr>
          <a:xfrm>
            <a:off x="5212080" y="457748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02" name="Shape 500"/>
          <p:cNvSpPr/>
          <p:nvPr/>
        </p:nvSpPr>
        <p:spPr>
          <a:xfrm>
            <a:off x="5317236" y="457748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03" name="Shape 501"/>
          <p:cNvSpPr/>
          <p:nvPr/>
        </p:nvSpPr>
        <p:spPr>
          <a:xfrm>
            <a:off x="5422392" y="457748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04" name="Shape 502"/>
          <p:cNvSpPr/>
          <p:nvPr/>
        </p:nvSpPr>
        <p:spPr>
          <a:xfrm>
            <a:off x="5527548" y="457748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05" name="Shape 503"/>
          <p:cNvSpPr/>
          <p:nvPr/>
        </p:nvSpPr>
        <p:spPr>
          <a:xfrm>
            <a:off x="5632704" y="457748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06" name="Shape 504"/>
          <p:cNvSpPr/>
          <p:nvPr/>
        </p:nvSpPr>
        <p:spPr>
          <a:xfrm>
            <a:off x="5737860" y="457748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07" name="Shape 505"/>
          <p:cNvSpPr/>
          <p:nvPr/>
        </p:nvSpPr>
        <p:spPr>
          <a:xfrm>
            <a:off x="5843016" y="457748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08" name="Shape 506"/>
          <p:cNvSpPr/>
          <p:nvPr/>
        </p:nvSpPr>
        <p:spPr>
          <a:xfrm>
            <a:off x="5948172" y="457748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09" name="Shape 507"/>
          <p:cNvSpPr/>
          <p:nvPr/>
        </p:nvSpPr>
        <p:spPr>
          <a:xfrm>
            <a:off x="5212080" y="462137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10" name="Shape 508"/>
          <p:cNvSpPr/>
          <p:nvPr/>
        </p:nvSpPr>
        <p:spPr>
          <a:xfrm>
            <a:off x="5317236" y="462137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11" name="Shape 509"/>
          <p:cNvSpPr/>
          <p:nvPr/>
        </p:nvSpPr>
        <p:spPr>
          <a:xfrm>
            <a:off x="5422392" y="462137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12" name="Shape 510"/>
          <p:cNvSpPr/>
          <p:nvPr/>
        </p:nvSpPr>
        <p:spPr>
          <a:xfrm>
            <a:off x="5527548" y="462137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13" name="Shape 511"/>
          <p:cNvSpPr/>
          <p:nvPr/>
        </p:nvSpPr>
        <p:spPr>
          <a:xfrm>
            <a:off x="5632704" y="462137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14" name="Shape 512"/>
          <p:cNvSpPr/>
          <p:nvPr/>
        </p:nvSpPr>
        <p:spPr>
          <a:xfrm>
            <a:off x="5737860" y="462137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15" name="Shape 513"/>
          <p:cNvSpPr/>
          <p:nvPr/>
        </p:nvSpPr>
        <p:spPr>
          <a:xfrm>
            <a:off x="5843016" y="462137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16" name="Shape 514"/>
          <p:cNvSpPr/>
          <p:nvPr/>
        </p:nvSpPr>
        <p:spPr>
          <a:xfrm>
            <a:off x="5948172" y="462137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17" name="Shape 515"/>
          <p:cNvSpPr/>
          <p:nvPr/>
        </p:nvSpPr>
        <p:spPr>
          <a:xfrm>
            <a:off x="5212080" y="4665269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18" name="Shape 516"/>
          <p:cNvSpPr/>
          <p:nvPr/>
        </p:nvSpPr>
        <p:spPr>
          <a:xfrm>
            <a:off x="5317236" y="4665269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19" name="Shape 517"/>
          <p:cNvSpPr/>
          <p:nvPr/>
        </p:nvSpPr>
        <p:spPr>
          <a:xfrm>
            <a:off x="5422392" y="4665269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20" name="Shape 518"/>
          <p:cNvSpPr/>
          <p:nvPr/>
        </p:nvSpPr>
        <p:spPr>
          <a:xfrm>
            <a:off x="5527548" y="4665269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21" name="Shape 519"/>
          <p:cNvSpPr/>
          <p:nvPr/>
        </p:nvSpPr>
        <p:spPr>
          <a:xfrm>
            <a:off x="5632704" y="4665269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22" name="Shape 520"/>
          <p:cNvSpPr/>
          <p:nvPr/>
        </p:nvSpPr>
        <p:spPr>
          <a:xfrm>
            <a:off x="5737860" y="4665269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23" name="Shape 521"/>
          <p:cNvSpPr/>
          <p:nvPr/>
        </p:nvSpPr>
        <p:spPr>
          <a:xfrm>
            <a:off x="5843016" y="4665269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24" name="Shape 522"/>
          <p:cNvSpPr/>
          <p:nvPr/>
        </p:nvSpPr>
        <p:spPr>
          <a:xfrm>
            <a:off x="5948172" y="4665269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25" name="Shape 523"/>
          <p:cNvSpPr/>
          <p:nvPr/>
        </p:nvSpPr>
        <p:spPr>
          <a:xfrm>
            <a:off x="5212080" y="47091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26" name="Shape 524"/>
          <p:cNvSpPr/>
          <p:nvPr/>
        </p:nvSpPr>
        <p:spPr>
          <a:xfrm>
            <a:off x="5317236" y="47091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27" name="Shape 525"/>
          <p:cNvSpPr/>
          <p:nvPr/>
        </p:nvSpPr>
        <p:spPr>
          <a:xfrm>
            <a:off x="5422392" y="47091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28" name="Shape 526"/>
          <p:cNvSpPr/>
          <p:nvPr/>
        </p:nvSpPr>
        <p:spPr>
          <a:xfrm>
            <a:off x="5527548" y="47091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29" name="Shape 527"/>
          <p:cNvSpPr/>
          <p:nvPr/>
        </p:nvSpPr>
        <p:spPr>
          <a:xfrm>
            <a:off x="5632704" y="47091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30" name="Shape 528"/>
          <p:cNvSpPr/>
          <p:nvPr/>
        </p:nvSpPr>
        <p:spPr>
          <a:xfrm>
            <a:off x="5737860" y="47091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31" name="Shape 529"/>
          <p:cNvSpPr/>
          <p:nvPr/>
        </p:nvSpPr>
        <p:spPr>
          <a:xfrm>
            <a:off x="5843016" y="47091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32" name="Shape 530"/>
          <p:cNvSpPr/>
          <p:nvPr/>
        </p:nvSpPr>
        <p:spPr>
          <a:xfrm>
            <a:off x="5948172" y="47091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33" name="Shape 531"/>
          <p:cNvSpPr/>
          <p:nvPr/>
        </p:nvSpPr>
        <p:spPr>
          <a:xfrm>
            <a:off x="5212080" y="47530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34" name="Shape 532"/>
          <p:cNvSpPr/>
          <p:nvPr/>
        </p:nvSpPr>
        <p:spPr>
          <a:xfrm>
            <a:off x="5317236" y="47530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35" name="Shape 533"/>
          <p:cNvSpPr/>
          <p:nvPr/>
        </p:nvSpPr>
        <p:spPr>
          <a:xfrm>
            <a:off x="5422392" y="47530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36" name="Shape 534"/>
          <p:cNvSpPr/>
          <p:nvPr/>
        </p:nvSpPr>
        <p:spPr>
          <a:xfrm>
            <a:off x="5527548" y="47530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37" name="Shape 535"/>
          <p:cNvSpPr/>
          <p:nvPr/>
        </p:nvSpPr>
        <p:spPr>
          <a:xfrm>
            <a:off x="5632704" y="47530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38" name="Shape 536"/>
          <p:cNvSpPr/>
          <p:nvPr/>
        </p:nvSpPr>
        <p:spPr>
          <a:xfrm>
            <a:off x="5737860" y="47530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39" name="Shape 537"/>
          <p:cNvSpPr/>
          <p:nvPr/>
        </p:nvSpPr>
        <p:spPr>
          <a:xfrm>
            <a:off x="5843016" y="47530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40" name="Shape 538"/>
          <p:cNvSpPr/>
          <p:nvPr/>
        </p:nvSpPr>
        <p:spPr>
          <a:xfrm>
            <a:off x="5948172" y="47530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41" name="Shape 539"/>
          <p:cNvSpPr/>
          <p:nvPr/>
        </p:nvSpPr>
        <p:spPr>
          <a:xfrm>
            <a:off x="5212080" y="47969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42" name="Shape 540"/>
          <p:cNvSpPr/>
          <p:nvPr/>
        </p:nvSpPr>
        <p:spPr>
          <a:xfrm>
            <a:off x="5317236" y="47969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43" name="Shape 541"/>
          <p:cNvSpPr/>
          <p:nvPr/>
        </p:nvSpPr>
        <p:spPr>
          <a:xfrm>
            <a:off x="5422392" y="47969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44" name="Shape 542"/>
          <p:cNvSpPr/>
          <p:nvPr/>
        </p:nvSpPr>
        <p:spPr>
          <a:xfrm>
            <a:off x="5527548" y="47969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45" name="Shape 543"/>
          <p:cNvSpPr/>
          <p:nvPr/>
        </p:nvSpPr>
        <p:spPr>
          <a:xfrm>
            <a:off x="5632704" y="47969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46" name="Shape 544"/>
          <p:cNvSpPr/>
          <p:nvPr/>
        </p:nvSpPr>
        <p:spPr>
          <a:xfrm>
            <a:off x="5737860" y="47969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47" name="Shape 545"/>
          <p:cNvSpPr/>
          <p:nvPr/>
        </p:nvSpPr>
        <p:spPr>
          <a:xfrm>
            <a:off x="5843016" y="47969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48" name="Shape 546"/>
          <p:cNvSpPr/>
          <p:nvPr/>
        </p:nvSpPr>
        <p:spPr>
          <a:xfrm>
            <a:off x="5948172" y="47969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49" name="Shape 547"/>
          <p:cNvSpPr/>
          <p:nvPr/>
        </p:nvSpPr>
        <p:spPr>
          <a:xfrm>
            <a:off x="8321040" y="3758184"/>
            <a:ext cx="3794760" cy="1152144"/>
          </a:xfrm>
          <a:prstGeom prst="roundRect">
            <a:avLst>
              <a:gd name="adj" fmla="val 634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50" name="Text 548"/>
          <p:cNvSpPr/>
          <p:nvPr/>
        </p:nvSpPr>
        <p:spPr>
          <a:xfrm>
            <a:off x="8430768" y="3849624"/>
            <a:ext cx="685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79C0FF"/>
                </a:solidFill>
              </a:rPr>
              <a:t>♝</a:t>
            </a:r>
            <a:endParaRPr lang="en-US" sz="3800" dirty="0"/>
          </a:p>
        </p:txBody>
      </p:sp>
      <p:sp>
        <p:nvSpPr>
          <p:cNvPr id="551" name="Text 549"/>
          <p:cNvSpPr/>
          <p:nvPr/>
        </p:nvSpPr>
        <p:spPr>
          <a:xfrm>
            <a:off x="9189720" y="3895344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9C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BlackBishops</a:t>
            </a:r>
            <a:endParaRPr lang="en-US" sz="1300" dirty="0"/>
          </a:p>
        </p:txBody>
      </p:sp>
      <p:sp>
        <p:nvSpPr>
          <p:cNvPr id="552" name="Text 550"/>
          <p:cNvSpPr/>
          <p:nvPr/>
        </p:nvSpPr>
        <p:spPr>
          <a:xfrm>
            <a:off x="9189720" y="4215384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0x2400000000000000</a:t>
            </a:r>
            <a:endParaRPr lang="en-US" sz="950" dirty="0"/>
          </a:p>
        </p:txBody>
      </p:sp>
      <p:sp>
        <p:nvSpPr>
          <p:cNvPr id="553" name="Shape 551"/>
          <p:cNvSpPr/>
          <p:nvPr/>
        </p:nvSpPr>
        <p:spPr>
          <a:xfrm>
            <a:off x="9189720" y="448970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54" name="Shape 552"/>
          <p:cNvSpPr/>
          <p:nvPr/>
        </p:nvSpPr>
        <p:spPr>
          <a:xfrm>
            <a:off x="9294876" y="448970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55" name="Shape 553"/>
          <p:cNvSpPr/>
          <p:nvPr/>
        </p:nvSpPr>
        <p:spPr>
          <a:xfrm>
            <a:off x="9400032" y="448970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56" name="Shape 554"/>
          <p:cNvSpPr/>
          <p:nvPr/>
        </p:nvSpPr>
        <p:spPr>
          <a:xfrm>
            <a:off x="9505188" y="448970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57" name="Shape 555"/>
          <p:cNvSpPr/>
          <p:nvPr/>
        </p:nvSpPr>
        <p:spPr>
          <a:xfrm>
            <a:off x="9610344" y="448970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58" name="Shape 556"/>
          <p:cNvSpPr/>
          <p:nvPr/>
        </p:nvSpPr>
        <p:spPr>
          <a:xfrm>
            <a:off x="9715500" y="448970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59" name="Shape 557"/>
          <p:cNvSpPr/>
          <p:nvPr/>
        </p:nvSpPr>
        <p:spPr>
          <a:xfrm>
            <a:off x="9820656" y="448970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60" name="Shape 558"/>
          <p:cNvSpPr/>
          <p:nvPr/>
        </p:nvSpPr>
        <p:spPr>
          <a:xfrm>
            <a:off x="9925812" y="448970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61" name="Shape 559"/>
          <p:cNvSpPr/>
          <p:nvPr/>
        </p:nvSpPr>
        <p:spPr>
          <a:xfrm>
            <a:off x="9189720" y="4533595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562" name="Shape 560"/>
          <p:cNvSpPr/>
          <p:nvPr/>
        </p:nvSpPr>
        <p:spPr>
          <a:xfrm>
            <a:off x="9294876" y="4533595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563" name="Shape 561"/>
          <p:cNvSpPr/>
          <p:nvPr/>
        </p:nvSpPr>
        <p:spPr>
          <a:xfrm>
            <a:off x="9400032" y="4533595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564" name="Shape 562"/>
          <p:cNvSpPr/>
          <p:nvPr/>
        </p:nvSpPr>
        <p:spPr>
          <a:xfrm>
            <a:off x="9505188" y="4533595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565" name="Shape 563"/>
          <p:cNvSpPr/>
          <p:nvPr/>
        </p:nvSpPr>
        <p:spPr>
          <a:xfrm>
            <a:off x="9610344" y="4533595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566" name="Shape 564"/>
          <p:cNvSpPr/>
          <p:nvPr/>
        </p:nvSpPr>
        <p:spPr>
          <a:xfrm>
            <a:off x="9715500" y="4533595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567" name="Shape 565"/>
          <p:cNvSpPr/>
          <p:nvPr/>
        </p:nvSpPr>
        <p:spPr>
          <a:xfrm>
            <a:off x="9820656" y="4533595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568" name="Shape 566"/>
          <p:cNvSpPr/>
          <p:nvPr/>
        </p:nvSpPr>
        <p:spPr>
          <a:xfrm>
            <a:off x="9925812" y="4533595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569" name="Shape 567"/>
          <p:cNvSpPr/>
          <p:nvPr/>
        </p:nvSpPr>
        <p:spPr>
          <a:xfrm>
            <a:off x="9189720" y="457748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70" name="Shape 568"/>
          <p:cNvSpPr/>
          <p:nvPr/>
        </p:nvSpPr>
        <p:spPr>
          <a:xfrm>
            <a:off x="9294876" y="457748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71" name="Shape 569"/>
          <p:cNvSpPr/>
          <p:nvPr/>
        </p:nvSpPr>
        <p:spPr>
          <a:xfrm>
            <a:off x="9400032" y="457748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72" name="Shape 570"/>
          <p:cNvSpPr/>
          <p:nvPr/>
        </p:nvSpPr>
        <p:spPr>
          <a:xfrm>
            <a:off x="9505188" y="457748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73" name="Shape 571"/>
          <p:cNvSpPr/>
          <p:nvPr/>
        </p:nvSpPr>
        <p:spPr>
          <a:xfrm>
            <a:off x="9610344" y="457748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74" name="Shape 572"/>
          <p:cNvSpPr/>
          <p:nvPr/>
        </p:nvSpPr>
        <p:spPr>
          <a:xfrm>
            <a:off x="9715500" y="457748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75" name="Shape 573"/>
          <p:cNvSpPr/>
          <p:nvPr/>
        </p:nvSpPr>
        <p:spPr>
          <a:xfrm>
            <a:off x="9820656" y="457748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76" name="Shape 574"/>
          <p:cNvSpPr/>
          <p:nvPr/>
        </p:nvSpPr>
        <p:spPr>
          <a:xfrm>
            <a:off x="9925812" y="457748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77" name="Shape 575"/>
          <p:cNvSpPr/>
          <p:nvPr/>
        </p:nvSpPr>
        <p:spPr>
          <a:xfrm>
            <a:off x="9189720" y="462137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78" name="Shape 576"/>
          <p:cNvSpPr/>
          <p:nvPr/>
        </p:nvSpPr>
        <p:spPr>
          <a:xfrm>
            <a:off x="9294876" y="462137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79" name="Shape 577"/>
          <p:cNvSpPr/>
          <p:nvPr/>
        </p:nvSpPr>
        <p:spPr>
          <a:xfrm>
            <a:off x="9400032" y="462137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80" name="Shape 578"/>
          <p:cNvSpPr/>
          <p:nvPr/>
        </p:nvSpPr>
        <p:spPr>
          <a:xfrm>
            <a:off x="9505188" y="462137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81" name="Shape 579"/>
          <p:cNvSpPr/>
          <p:nvPr/>
        </p:nvSpPr>
        <p:spPr>
          <a:xfrm>
            <a:off x="9610344" y="462137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82" name="Shape 580"/>
          <p:cNvSpPr/>
          <p:nvPr/>
        </p:nvSpPr>
        <p:spPr>
          <a:xfrm>
            <a:off x="9715500" y="462137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83" name="Shape 581"/>
          <p:cNvSpPr/>
          <p:nvPr/>
        </p:nvSpPr>
        <p:spPr>
          <a:xfrm>
            <a:off x="9820656" y="462137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84" name="Shape 582"/>
          <p:cNvSpPr/>
          <p:nvPr/>
        </p:nvSpPr>
        <p:spPr>
          <a:xfrm>
            <a:off x="9925812" y="462137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85" name="Shape 583"/>
          <p:cNvSpPr/>
          <p:nvPr/>
        </p:nvSpPr>
        <p:spPr>
          <a:xfrm>
            <a:off x="9189720" y="4665269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86" name="Shape 584"/>
          <p:cNvSpPr/>
          <p:nvPr/>
        </p:nvSpPr>
        <p:spPr>
          <a:xfrm>
            <a:off x="9294876" y="4665269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87" name="Shape 585"/>
          <p:cNvSpPr/>
          <p:nvPr/>
        </p:nvSpPr>
        <p:spPr>
          <a:xfrm>
            <a:off x="9400032" y="4665269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88" name="Shape 586"/>
          <p:cNvSpPr/>
          <p:nvPr/>
        </p:nvSpPr>
        <p:spPr>
          <a:xfrm>
            <a:off x="9505188" y="4665269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89" name="Shape 587"/>
          <p:cNvSpPr/>
          <p:nvPr/>
        </p:nvSpPr>
        <p:spPr>
          <a:xfrm>
            <a:off x="9610344" y="4665269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90" name="Shape 588"/>
          <p:cNvSpPr/>
          <p:nvPr/>
        </p:nvSpPr>
        <p:spPr>
          <a:xfrm>
            <a:off x="9715500" y="4665269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91" name="Shape 589"/>
          <p:cNvSpPr/>
          <p:nvPr/>
        </p:nvSpPr>
        <p:spPr>
          <a:xfrm>
            <a:off x="9820656" y="4665269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92" name="Shape 590"/>
          <p:cNvSpPr/>
          <p:nvPr/>
        </p:nvSpPr>
        <p:spPr>
          <a:xfrm>
            <a:off x="9925812" y="4665269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93" name="Shape 591"/>
          <p:cNvSpPr/>
          <p:nvPr/>
        </p:nvSpPr>
        <p:spPr>
          <a:xfrm>
            <a:off x="9189720" y="47091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94" name="Shape 592"/>
          <p:cNvSpPr/>
          <p:nvPr/>
        </p:nvSpPr>
        <p:spPr>
          <a:xfrm>
            <a:off x="9294876" y="47091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95" name="Shape 593"/>
          <p:cNvSpPr/>
          <p:nvPr/>
        </p:nvSpPr>
        <p:spPr>
          <a:xfrm>
            <a:off x="9400032" y="47091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96" name="Shape 594"/>
          <p:cNvSpPr/>
          <p:nvPr/>
        </p:nvSpPr>
        <p:spPr>
          <a:xfrm>
            <a:off x="9505188" y="47091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97" name="Shape 595"/>
          <p:cNvSpPr/>
          <p:nvPr/>
        </p:nvSpPr>
        <p:spPr>
          <a:xfrm>
            <a:off x="9610344" y="47091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98" name="Shape 596"/>
          <p:cNvSpPr/>
          <p:nvPr/>
        </p:nvSpPr>
        <p:spPr>
          <a:xfrm>
            <a:off x="9715500" y="47091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99" name="Shape 597"/>
          <p:cNvSpPr/>
          <p:nvPr/>
        </p:nvSpPr>
        <p:spPr>
          <a:xfrm>
            <a:off x="9820656" y="47091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00" name="Shape 598"/>
          <p:cNvSpPr/>
          <p:nvPr/>
        </p:nvSpPr>
        <p:spPr>
          <a:xfrm>
            <a:off x="9925812" y="470916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01" name="Shape 599"/>
          <p:cNvSpPr/>
          <p:nvPr/>
        </p:nvSpPr>
        <p:spPr>
          <a:xfrm>
            <a:off x="9189720" y="47530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02" name="Shape 600"/>
          <p:cNvSpPr/>
          <p:nvPr/>
        </p:nvSpPr>
        <p:spPr>
          <a:xfrm>
            <a:off x="9294876" y="47530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03" name="Shape 601"/>
          <p:cNvSpPr/>
          <p:nvPr/>
        </p:nvSpPr>
        <p:spPr>
          <a:xfrm>
            <a:off x="9400032" y="47530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04" name="Shape 602"/>
          <p:cNvSpPr/>
          <p:nvPr/>
        </p:nvSpPr>
        <p:spPr>
          <a:xfrm>
            <a:off x="9505188" y="47530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05" name="Shape 603"/>
          <p:cNvSpPr/>
          <p:nvPr/>
        </p:nvSpPr>
        <p:spPr>
          <a:xfrm>
            <a:off x="9610344" y="47530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06" name="Shape 604"/>
          <p:cNvSpPr/>
          <p:nvPr/>
        </p:nvSpPr>
        <p:spPr>
          <a:xfrm>
            <a:off x="9715500" y="47530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07" name="Shape 605"/>
          <p:cNvSpPr/>
          <p:nvPr/>
        </p:nvSpPr>
        <p:spPr>
          <a:xfrm>
            <a:off x="9820656" y="47530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08" name="Shape 606"/>
          <p:cNvSpPr/>
          <p:nvPr/>
        </p:nvSpPr>
        <p:spPr>
          <a:xfrm>
            <a:off x="9925812" y="475305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09" name="Shape 607"/>
          <p:cNvSpPr/>
          <p:nvPr/>
        </p:nvSpPr>
        <p:spPr>
          <a:xfrm>
            <a:off x="9189720" y="47969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10" name="Shape 608"/>
          <p:cNvSpPr/>
          <p:nvPr/>
        </p:nvSpPr>
        <p:spPr>
          <a:xfrm>
            <a:off x="9294876" y="47969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11" name="Shape 609"/>
          <p:cNvSpPr/>
          <p:nvPr/>
        </p:nvSpPr>
        <p:spPr>
          <a:xfrm>
            <a:off x="9400032" y="47969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12" name="Shape 610"/>
          <p:cNvSpPr/>
          <p:nvPr/>
        </p:nvSpPr>
        <p:spPr>
          <a:xfrm>
            <a:off x="9505188" y="47969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13" name="Shape 611"/>
          <p:cNvSpPr/>
          <p:nvPr/>
        </p:nvSpPr>
        <p:spPr>
          <a:xfrm>
            <a:off x="9610344" y="47969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14" name="Shape 612"/>
          <p:cNvSpPr/>
          <p:nvPr/>
        </p:nvSpPr>
        <p:spPr>
          <a:xfrm>
            <a:off x="9715500" y="47969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15" name="Shape 613"/>
          <p:cNvSpPr/>
          <p:nvPr/>
        </p:nvSpPr>
        <p:spPr>
          <a:xfrm>
            <a:off x="9820656" y="47969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16" name="Shape 614"/>
          <p:cNvSpPr/>
          <p:nvPr/>
        </p:nvSpPr>
        <p:spPr>
          <a:xfrm>
            <a:off x="9925812" y="479694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17" name="Shape 615"/>
          <p:cNvSpPr/>
          <p:nvPr/>
        </p:nvSpPr>
        <p:spPr>
          <a:xfrm>
            <a:off x="365760" y="5020056"/>
            <a:ext cx="3794760" cy="1152144"/>
          </a:xfrm>
          <a:prstGeom prst="roundRect">
            <a:avLst>
              <a:gd name="adj" fmla="val 634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618" name="Text 616"/>
          <p:cNvSpPr/>
          <p:nvPr/>
        </p:nvSpPr>
        <p:spPr>
          <a:xfrm>
            <a:off x="475488" y="5111496"/>
            <a:ext cx="685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79C0FF"/>
                </a:solidFill>
              </a:rPr>
              <a:t>♜</a:t>
            </a:r>
            <a:endParaRPr lang="en-US" sz="3800" dirty="0"/>
          </a:p>
        </p:txBody>
      </p:sp>
      <p:sp>
        <p:nvSpPr>
          <p:cNvPr id="619" name="Text 617"/>
          <p:cNvSpPr/>
          <p:nvPr/>
        </p:nvSpPr>
        <p:spPr>
          <a:xfrm>
            <a:off x="1234440" y="5157216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9C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BlackRooks</a:t>
            </a:r>
            <a:endParaRPr lang="en-US" sz="1300" dirty="0"/>
          </a:p>
        </p:txBody>
      </p:sp>
      <p:sp>
        <p:nvSpPr>
          <p:cNvPr id="620" name="Text 618"/>
          <p:cNvSpPr/>
          <p:nvPr/>
        </p:nvSpPr>
        <p:spPr>
          <a:xfrm>
            <a:off x="1234440" y="5477256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0x8100000000000000</a:t>
            </a:r>
            <a:endParaRPr lang="en-US" sz="950" dirty="0"/>
          </a:p>
        </p:txBody>
      </p:sp>
      <p:sp>
        <p:nvSpPr>
          <p:cNvPr id="621" name="Shape 619"/>
          <p:cNvSpPr/>
          <p:nvPr/>
        </p:nvSpPr>
        <p:spPr>
          <a:xfrm>
            <a:off x="1234440" y="575157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22" name="Shape 620"/>
          <p:cNvSpPr/>
          <p:nvPr/>
        </p:nvSpPr>
        <p:spPr>
          <a:xfrm>
            <a:off x="1339596" y="575157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23" name="Shape 621"/>
          <p:cNvSpPr/>
          <p:nvPr/>
        </p:nvSpPr>
        <p:spPr>
          <a:xfrm>
            <a:off x="1444752" y="575157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24" name="Shape 622"/>
          <p:cNvSpPr/>
          <p:nvPr/>
        </p:nvSpPr>
        <p:spPr>
          <a:xfrm>
            <a:off x="1549908" y="575157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25" name="Shape 623"/>
          <p:cNvSpPr/>
          <p:nvPr/>
        </p:nvSpPr>
        <p:spPr>
          <a:xfrm>
            <a:off x="1655064" y="575157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26" name="Shape 624"/>
          <p:cNvSpPr/>
          <p:nvPr/>
        </p:nvSpPr>
        <p:spPr>
          <a:xfrm>
            <a:off x="1760220" y="575157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27" name="Shape 625"/>
          <p:cNvSpPr/>
          <p:nvPr/>
        </p:nvSpPr>
        <p:spPr>
          <a:xfrm>
            <a:off x="1865376" y="575157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28" name="Shape 626"/>
          <p:cNvSpPr/>
          <p:nvPr/>
        </p:nvSpPr>
        <p:spPr>
          <a:xfrm>
            <a:off x="1970532" y="575157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29" name="Shape 627"/>
          <p:cNvSpPr/>
          <p:nvPr/>
        </p:nvSpPr>
        <p:spPr>
          <a:xfrm>
            <a:off x="1234440" y="5795467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630" name="Shape 628"/>
          <p:cNvSpPr/>
          <p:nvPr/>
        </p:nvSpPr>
        <p:spPr>
          <a:xfrm>
            <a:off x="1339596" y="5795467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631" name="Shape 629"/>
          <p:cNvSpPr/>
          <p:nvPr/>
        </p:nvSpPr>
        <p:spPr>
          <a:xfrm>
            <a:off x="1444752" y="5795467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632" name="Shape 630"/>
          <p:cNvSpPr/>
          <p:nvPr/>
        </p:nvSpPr>
        <p:spPr>
          <a:xfrm>
            <a:off x="1549908" y="5795467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633" name="Shape 631"/>
          <p:cNvSpPr/>
          <p:nvPr/>
        </p:nvSpPr>
        <p:spPr>
          <a:xfrm>
            <a:off x="1655064" y="5795467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634" name="Shape 632"/>
          <p:cNvSpPr/>
          <p:nvPr/>
        </p:nvSpPr>
        <p:spPr>
          <a:xfrm>
            <a:off x="1760220" y="5795467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635" name="Shape 633"/>
          <p:cNvSpPr/>
          <p:nvPr/>
        </p:nvSpPr>
        <p:spPr>
          <a:xfrm>
            <a:off x="1865376" y="5795467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636" name="Shape 634"/>
          <p:cNvSpPr/>
          <p:nvPr/>
        </p:nvSpPr>
        <p:spPr>
          <a:xfrm>
            <a:off x="1970532" y="5795467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637" name="Shape 635"/>
          <p:cNvSpPr/>
          <p:nvPr/>
        </p:nvSpPr>
        <p:spPr>
          <a:xfrm>
            <a:off x="1234440" y="583935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38" name="Shape 636"/>
          <p:cNvSpPr/>
          <p:nvPr/>
        </p:nvSpPr>
        <p:spPr>
          <a:xfrm>
            <a:off x="1339596" y="583935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39" name="Shape 637"/>
          <p:cNvSpPr/>
          <p:nvPr/>
        </p:nvSpPr>
        <p:spPr>
          <a:xfrm>
            <a:off x="1444752" y="583935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40" name="Shape 638"/>
          <p:cNvSpPr/>
          <p:nvPr/>
        </p:nvSpPr>
        <p:spPr>
          <a:xfrm>
            <a:off x="1549908" y="583935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41" name="Shape 639"/>
          <p:cNvSpPr/>
          <p:nvPr/>
        </p:nvSpPr>
        <p:spPr>
          <a:xfrm>
            <a:off x="1655064" y="583935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42" name="Shape 640"/>
          <p:cNvSpPr/>
          <p:nvPr/>
        </p:nvSpPr>
        <p:spPr>
          <a:xfrm>
            <a:off x="1760220" y="583935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43" name="Shape 641"/>
          <p:cNvSpPr/>
          <p:nvPr/>
        </p:nvSpPr>
        <p:spPr>
          <a:xfrm>
            <a:off x="1865376" y="583935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44" name="Shape 642"/>
          <p:cNvSpPr/>
          <p:nvPr/>
        </p:nvSpPr>
        <p:spPr>
          <a:xfrm>
            <a:off x="1970532" y="583935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45" name="Shape 643"/>
          <p:cNvSpPr/>
          <p:nvPr/>
        </p:nvSpPr>
        <p:spPr>
          <a:xfrm>
            <a:off x="1234440" y="588325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46" name="Shape 644"/>
          <p:cNvSpPr/>
          <p:nvPr/>
        </p:nvSpPr>
        <p:spPr>
          <a:xfrm>
            <a:off x="1339596" y="588325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47" name="Shape 645"/>
          <p:cNvSpPr/>
          <p:nvPr/>
        </p:nvSpPr>
        <p:spPr>
          <a:xfrm>
            <a:off x="1444752" y="588325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48" name="Shape 646"/>
          <p:cNvSpPr/>
          <p:nvPr/>
        </p:nvSpPr>
        <p:spPr>
          <a:xfrm>
            <a:off x="1549908" y="588325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49" name="Shape 647"/>
          <p:cNvSpPr/>
          <p:nvPr/>
        </p:nvSpPr>
        <p:spPr>
          <a:xfrm>
            <a:off x="1655064" y="588325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50" name="Shape 648"/>
          <p:cNvSpPr/>
          <p:nvPr/>
        </p:nvSpPr>
        <p:spPr>
          <a:xfrm>
            <a:off x="1760220" y="588325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51" name="Shape 649"/>
          <p:cNvSpPr/>
          <p:nvPr/>
        </p:nvSpPr>
        <p:spPr>
          <a:xfrm>
            <a:off x="1865376" y="588325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52" name="Shape 650"/>
          <p:cNvSpPr/>
          <p:nvPr/>
        </p:nvSpPr>
        <p:spPr>
          <a:xfrm>
            <a:off x="1970532" y="588325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53" name="Shape 651"/>
          <p:cNvSpPr/>
          <p:nvPr/>
        </p:nvSpPr>
        <p:spPr>
          <a:xfrm>
            <a:off x="1234440" y="592714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54" name="Shape 652"/>
          <p:cNvSpPr/>
          <p:nvPr/>
        </p:nvSpPr>
        <p:spPr>
          <a:xfrm>
            <a:off x="1339596" y="592714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55" name="Shape 653"/>
          <p:cNvSpPr/>
          <p:nvPr/>
        </p:nvSpPr>
        <p:spPr>
          <a:xfrm>
            <a:off x="1444752" y="592714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56" name="Shape 654"/>
          <p:cNvSpPr/>
          <p:nvPr/>
        </p:nvSpPr>
        <p:spPr>
          <a:xfrm>
            <a:off x="1549908" y="592714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57" name="Shape 655"/>
          <p:cNvSpPr/>
          <p:nvPr/>
        </p:nvSpPr>
        <p:spPr>
          <a:xfrm>
            <a:off x="1655064" y="592714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58" name="Shape 656"/>
          <p:cNvSpPr/>
          <p:nvPr/>
        </p:nvSpPr>
        <p:spPr>
          <a:xfrm>
            <a:off x="1760220" y="592714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59" name="Shape 657"/>
          <p:cNvSpPr/>
          <p:nvPr/>
        </p:nvSpPr>
        <p:spPr>
          <a:xfrm>
            <a:off x="1865376" y="592714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60" name="Shape 658"/>
          <p:cNvSpPr/>
          <p:nvPr/>
        </p:nvSpPr>
        <p:spPr>
          <a:xfrm>
            <a:off x="1970532" y="592714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61" name="Shape 659"/>
          <p:cNvSpPr/>
          <p:nvPr/>
        </p:nvSpPr>
        <p:spPr>
          <a:xfrm>
            <a:off x="1234440" y="59710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62" name="Shape 660"/>
          <p:cNvSpPr/>
          <p:nvPr/>
        </p:nvSpPr>
        <p:spPr>
          <a:xfrm>
            <a:off x="1339596" y="59710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63" name="Shape 661"/>
          <p:cNvSpPr/>
          <p:nvPr/>
        </p:nvSpPr>
        <p:spPr>
          <a:xfrm>
            <a:off x="1444752" y="59710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64" name="Shape 662"/>
          <p:cNvSpPr/>
          <p:nvPr/>
        </p:nvSpPr>
        <p:spPr>
          <a:xfrm>
            <a:off x="1549908" y="59710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65" name="Shape 663"/>
          <p:cNvSpPr/>
          <p:nvPr/>
        </p:nvSpPr>
        <p:spPr>
          <a:xfrm>
            <a:off x="1655064" y="59710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66" name="Shape 664"/>
          <p:cNvSpPr/>
          <p:nvPr/>
        </p:nvSpPr>
        <p:spPr>
          <a:xfrm>
            <a:off x="1760220" y="59710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67" name="Shape 665"/>
          <p:cNvSpPr/>
          <p:nvPr/>
        </p:nvSpPr>
        <p:spPr>
          <a:xfrm>
            <a:off x="1865376" y="59710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68" name="Shape 666"/>
          <p:cNvSpPr/>
          <p:nvPr/>
        </p:nvSpPr>
        <p:spPr>
          <a:xfrm>
            <a:off x="1970532" y="59710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69" name="Shape 667"/>
          <p:cNvSpPr/>
          <p:nvPr/>
        </p:nvSpPr>
        <p:spPr>
          <a:xfrm>
            <a:off x="1234440" y="60149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70" name="Shape 668"/>
          <p:cNvSpPr/>
          <p:nvPr/>
        </p:nvSpPr>
        <p:spPr>
          <a:xfrm>
            <a:off x="1339596" y="60149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71" name="Shape 669"/>
          <p:cNvSpPr/>
          <p:nvPr/>
        </p:nvSpPr>
        <p:spPr>
          <a:xfrm>
            <a:off x="1444752" y="60149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72" name="Shape 670"/>
          <p:cNvSpPr/>
          <p:nvPr/>
        </p:nvSpPr>
        <p:spPr>
          <a:xfrm>
            <a:off x="1549908" y="60149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73" name="Shape 671"/>
          <p:cNvSpPr/>
          <p:nvPr/>
        </p:nvSpPr>
        <p:spPr>
          <a:xfrm>
            <a:off x="1655064" y="60149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74" name="Shape 672"/>
          <p:cNvSpPr/>
          <p:nvPr/>
        </p:nvSpPr>
        <p:spPr>
          <a:xfrm>
            <a:off x="1760220" y="60149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75" name="Shape 673"/>
          <p:cNvSpPr/>
          <p:nvPr/>
        </p:nvSpPr>
        <p:spPr>
          <a:xfrm>
            <a:off x="1865376" y="60149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76" name="Shape 674"/>
          <p:cNvSpPr/>
          <p:nvPr/>
        </p:nvSpPr>
        <p:spPr>
          <a:xfrm>
            <a:off x="1970532" y="60149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77" name="Shape 675"/>
          <p:cNvSpPr/>
          <p:nvPr/>
        </p:nvSpPr>
        <p:spPr>
          <a:xfrm>
            <a:off x="1234440" y="60588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78" name="Shape 676"/>
          <p:cNvSpPr/>
          <p:nvPr/>
        </p:nvSpPr>
        <p:spPr>
          <a:xfrm>
            <a:off x="1339596" y="60588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79" name="Shape 677"/>
          <p:cNvSpPr/>
          <p:nvPr/>
        </p:nvSpPr>
        <p:spPr>
          <a:xfrm>
            <a:off x="1444752" y="60588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80" name="Shape 678"/>
          <p:cNvSpPr/>
          <p:nvPr/>
        </p:nvSpPr>
        <p:spPr>
          <a:xfrm>
            <a:off x="1549908" y="60588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81" name="Shape 679"/>
          <p:cNvSpPr/>
          <p:nvPr/>
        </p:nvSpPr>
        <p:spPr>
          <a:xfrm>
            <a:off x="1655064" y="60588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82" name="Shape 680"/>
          <p:cNvSpPr/>
          <p:nvPr/>
        </p:nvSpPr>
        <p:spPr>
          <a:xfrm>
            <a:off x="1760220" y="60588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83" name="Shape 681"/>
          <p:cNvSpPr/>
          <p:nvPr/>
        </p:nvSpPr>
        <p:spPr>
          <a:xfrm>
            <a:off x="1865376" y="60588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84" name="Shape 682"/>
          <p:cNvSpPr/>
          <p:nvPr/>
        </p:nvSpPr>
        <p:spPr>
          <a:xfrm>
            <a:off x="1970532" y="60588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85" name="Shape 683"/>
          <p:cNvSpPr/>
          <p:nvPr/>
        </p:nvSpPr>
        <p:spPr>
          <a:xfrm>
            <a:off x="4343400" y="5020056"/>
            <a:ext cx="3794760" cy="1152144"/>
          </a:xfrm>
          <a:prstGeom prst="roundRect">
            <a:avLst>
              <a:gd name="adj" fmla="val 634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686" name="Text 684"/>
          <p:cNvSpPr/>
          <p:nvPr/>
        </p:nvSpPr>
        <p:spPr>
          <a:xfrm>
            <a:off x="4453128" y="5111496"/>
            <a:ext cx="685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79C0FF"/>
                </a:solidFill>
              </a:rPr>
              <a:t>♛</a:t>
            </a:r>
            <a:endParaRPr lang="en-US" sz="3800" dirty="0"/>
          </a:p>
        </p:txBody>
      </p:sp>
      <p:sp>
        <p:nvSpPr>
          <p:cNvPr id="687" name="Text 685"/>
          <p:cNvSpPr/>
          <p:nvPr/>
        </p:nvSpPr>
        <p:spPr>
          <a:xfrm>
            <a:off x="5212080" y="5157216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9C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BlackQueens</a:t>
            </a:r>
            <a:endParaRPr lang="en-US" sz="1300" dirty="0"/>
          </a:p>
        </p:txBody>
      </p:sp>
      <p:sp>
        <p:nvSpPr>
          <p:cNvPr id="688" name="Text 686"/>
          <p:cNvSpPr/>
          <p:nvPr/>
        </p:nvSpPr>
        <p:spPr>
          <a:xfrm>
            <a:off x="5212080" y="5477256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0x0800000000000000</a:t>
            </a:r>
            <a:endParaRPr lang="en-US" sz="950" dirty="0"/>
          </a:p>
        </p:txBody>
      </p:sp>
      <p:sp>
        <p:nvSpPr>
          <p:cNvPr id="689" name="Shape 687"/>
          <p:cNvSpPr/>
          <p:nvPr/>
        </p:nvSpPr>
        <p:spPr>
          <a:xfrm>
            <a:off x="5212080" y="575157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90" name="Shape 688"/>
          <p:cNvSpPr/>
          <p:nvPr/>
        </p:nvSpPr>
        <p:spPr>
          <a:xfrm>
            <a:off x="5317236" y="575157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91" name="Shape 689"/>
          <p:cNvSpPr/>
          <p:nvPr/>
        </p:nvSpPr>
        <p:spPr>
          <a:xfrm>
            <a:off x="5422392" y="575157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92" name="Shape 690"/>
          <p:cNvSpPr/>
          <p:nvPr/>
        </p:nvSpPr>
        <p:spPr>
          <a:xfrm>
            <a:off x="5527548" y="575157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93" name="Shape 691"/>
          <p:cNvSpPr/>
          <p:nvPr/>
        </p:nvSpPr>
        <p:spPr>
          <a:xfrm>
            <a:off x="5632704" y="575157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94" name="Shape 692"/>
          <p:cNvSpPr/>
          <p:nvPr/>
        </p:nvSpPr>
        <p:spPr>
          <a:xfrm>
            <a:off x="5737860" y="575157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95" name="Shape 693"/>
          <p:cNvSpPr/>
          <p:nvPr/>
        </p:nvSpPr>
        <p:spPr>
          <a:xfrm>
            <a:off x="5843016" y="575157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96" name="Shape 694"/>
          <p:cNvSpPr/>
          <p:nvPr/>
        </p:nvSpPr>
        <p:spPr>
          <a:xfrm>
            <a:off x="5948172" y="575157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97" name="Shape 695"/>
          <p:cNvSpPr/>
          <p:nvPr/>
        </p:nvSpPr>
        <p:spPr>
          <a:xfrm>
            <a:off x="5212080" y="5795467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698" name="Shape 696"/>
          <p:cNvSpPr/>
          <p:nvPr/>
        </p:nvSpPr>
        <p:spPr>
          <a:xfrm>
            <a:off x="5317236" y="5795467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699" name="Shape 697"/>
          <p:cNvSpPr/>
          <p:nvPr/>
        </p:nvSpPr>
        <p:spPr>
          <a:xfrm>
            <a:off x="5422392" y="5795467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700" name="Shape 698"/>
          <p:cNvSpPr/>
          <p:nvPr/>
        </p:nvSpPr>
        <p:spPr>
          <a:xfrm>
            <a:off x="5527548" y="5795467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701" name="Shape 699"/>
          <p:cNvSpPr/>
          <p:nvPr/>
        </p:nvSpPr>
        <p:spPr>
          <a:xfrm>
            <a:off x="5632704" y="5795467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702" name="Shape 700"/>
          <p:cNvSpPr/>
          <p:nvPr/>
        </p:nvSpPr>
        <p:spPr>
          <a:xfrm>
            <a:off x="5737860" y="5795467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703" name="Shape 701"/>
          <p:cNvSpPr/>
          <p:nvPr/>
        </p:nvSpPr>
        <p:spPr>
          <a:xfrm>
            <a:off x="5843016" y="5795467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704" name="Shape 702"/>
          <p:cNvSpPr/>
          <p:nvPr/>
        </p:nvSpPr>
        <p:spPr>
          <a:xfrm>
            <a:off x="5948172" y="5795467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705" name="Shape 703"/>
          <p:cNvSpPr/>
          <p:nvPr/>
        </p:nvSpPr>
        <p:spPr>
          <a:xfrm>
            <a:off x="5212080" y="583935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06" name="Shape 704"/>
          <p:cNvSpPr/>
          <p:nvPr/>
        </p:nvSpPr>
        <p:spPr>
          <a:xfrm>
            <a:off x="5317236" y="583935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07" name="Shape 705"/>
          <p:cNvSpPr/>
          <p:nvPr/>
        </p:nvSpPr>
        <p:spPr>
          <a:xfrm>
            <a:off x="5422392" y="583935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08" name="Shape 706"/>
          <p:cNvSpPr/>
          <p:nvPr/>
        </p:nvSpPr>
        <p:spPr>
          <a:xfrm>
            <a:off x="5527548" y="583935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09" name="Shape 707"/>
          <p:cNvSpPr/>
          <p:nvPr/>
        </p:nvSpPr>
        <p:spPr>
          <a:xfrm>
            <a:off x="5632704" y="583935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10" name="Shape 708"/>
          <p:cNvSpPr/>
          <p:nvPr/>
        </p:nvSpPr>
        <p:spPr>
          <a:xfrm>
            <a:off x="5737860" y="583935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11" name="Shape 709"/>
          <p:cNvSpPr/>
          <p:nvPr/>
        </p:nvSpPr>
        <p:spPr>
          <a:xfrm>
            <a:off x="5843016" y="583935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12" name="Shape 710"/>
          <p:cNvSpPr/>
          <p:nvPr/>
        </p:nvSpPr>
        <p:spPr>
          <a:xfrm>
            <a:off x="5948172" y="583935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13" name="Shape 711"/>
          <p:cNvSpPr/>
          <p:nvPr/>
        </p:nvSpPr>
        <p:spPr>
          <a:xfrm>
            <a:off x="5212080" y="588325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14" name="Shape 712"/>
          <p:cNvSpPr/>
          <p:nvPr/>
        </p:nvSpPr>
        <p:spPr>
          <a:xfrm>
            <a:off x="5317236" y="588325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15" name="Shape 713"/>
          <p:cNvSpPr/>
          <p:nvPr/>
        </p:nvSpPr>
        <p:spPr>
          <a:xfrm>
            <a:off x="5422392" y="588325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16" name="Shape 714"/>
          <p:cNvSpPr/>
          <p:nvPr/>
        </p:nvSpPr>
        <p:spPr>
          <a:xfrm>
            <a:off x="5527548" y="588325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17" name="Shape 715"/>
          <p:cNvSpPr/>
          <p:nvPr/>
        </p:nvSpPr>
        <p:spPr>
          <a:xfrm>
            <a:off x="5632704" y="588325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18" name="Shape 716"/>
          <p:cNvSpPr/>
          <p:nvPr/>
        </p:nvSpPr>
        <p:spPr>
          <a:xfrm>
            <a:off x="5737860" y="588325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19" name="Shape 717"/>
          <p:cNvSpPr/>
          <p:nvPr/>
        </p:nvSpPr>
        <p:spPr>
          <a:xfrm>
            <a:off x="5843016" y="588325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20" name="Shape 718"/>
          <p:cNvSpPr/>
          <p:nvPr/>
        </p:nvSpPr>
        <p:spPr>
          <a:xfrm>
            <a:off x="5948172" y="588325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21" name="Shape 719"/>
          <p:cNvSpPr/>
          <p:nvPr/>
        </p:nvSpPr>
        <p:spPr>
          <a:xfrm>
            <a:off x="5212080" y="592714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22" name="Shape 720"/>
          <p:cNvSpPr/>
          <p:nvPr/>
        </p:nvSpPr>
        <p:spPr>
          <a:xfrm>
            <a:off x="5317236" y="592714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23" name="Shape 721"/>
          <p:cNvSpPr/>
          <p:nvPr/>
        </p:nvSpPr>
        <p:spPr>
          <a:xfrm>
            <a:off x="5422392" y="592714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24" name="Shape 722"/>
          <p:cNvSpPr/>
          <p:nvPr/>
        </p:nvSpPr>
        <p:spPr>
          <a:xfrm>
            <a:off x="5527548" y="592714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25" name="Shape 723"/>
          <p:cNvSpPr/>
          <p:nvPr/>
        </p:nvSpPr>
        <p:spPr>
          <a:xfrm>
            <a:off x="5632704" y="592714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26" name="Shape 724"/>
          <p:cNvSpPr/>
          <p:nvPr/>
        </p:nvSpPr>
        <p:spPr>
          <a:xfrm>
            <a:off x="5737860" y="592714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27" name="Shape 725"/>
          <p:cNvSpPr/>
          <p:nvPr/>
        </p:nvSpPr>
        <p:spPr>
          <a:xfrm>
            <a:off x="5843016" y="592714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28" name="Shape 726"/>
          <p:cNvSpPr/>
          <p:nvPr/>
        </p:nvSpPr>
        <p:spPr>
          <a:xfrm>
            <a:off x="5948172" y="592714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29" name="Shape 727"/>
          <p:cNvSpPr/>
          <p:nvPr/>
        </p:nvSpPr>
        <p:spPr>
          <a:xfrm>
            <a:off x="5212080" y="59710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30" name="Shape 728"/>
          <p:cNvSpPr/>
          <p:nvPr/>
        </p:nvSpPr>
        <p:spPr>
          <a:xfrm>
            <a:off x="5317236" y="59710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31" name="Shape 729"/>
          <p:cNvSpPr/>
          <p:nvPr/>
        </p:nvSpPr>
        <p:spPr>
          <a:xfrm>
            <a:off x="5422392" y="59710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32" name="Shape 730"/>
          <p:cNvSpPr/>
          <p:nvPr/>
        </p:nvSpPr>
        <p:spPr>
          <a:xfrm>
            <a:off x="5527548" y="59710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33" name="Shape 731"/>
          <p:cNvSpPr/>
          <p:nvPr/>
        </p:nvSpPr>
        <p:spPr>
          <a:xfrm>
            <a:off x="5632704" y="59710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34" name="Shape 732"/>
          <p:cNvSpPr/>
          <p:nvPr/>
        </p:nvSpPr>
        <p:spPr>
          <a:xfrm>
            <a:off x="5737860" y="59710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35" name="Shape 733"/>
          <p:cNvSpPr/>
          <p:nvPr/>
        </p:nvSpPr>
        <p:spPr>
          <a:xfrm>
            <a:off x="5843016" y="59710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36" name="Shape 734"/>
          <p:cNvSpPr/>
          <p:nvPr/>
        </p:nvSpPr>
        <p:spPr>
          <a:xfrm>
            <a:off x="5948172" y="59710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37" name="Shape 735"/>
          <p:cNvSpPr/>
          <p:nvPr/>
        </p:nvSpPr>
        <p:spPr>
          <a:xfrm>
            <a:off x="5212080" y="60149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38" name="Shape 736"/>
          <p:cNvSpPr/>
          <p:nvPr/>
        </p:nvSpPr>
        <p:spPr>
          <a:xfrm>
            <a:off x="5317236" y="60149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39" name="Shape 737"/>
          <p:cNvSpPr/>
          <p:nvPr/>
        </p:nvSpPr>
        <p:spPr>
          <a:xfrm>
            <a:off x="5422392" y="60149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40" name="Shape 738"/>
          <p:cNvSpPr/>
          <p:nvPr/>
        </p:nvSpPr>
        <p:spPr>
          <a:xfrm>
            <a:off x="5527548" y="60149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41" name="Shape 739"/>
          <p:cNvSpPr/>
          <p:nvPr/>
        </p:nvSpPr>
        <p:spPr>
          <a:xfrm>
            <a:off x="5632704" y="60149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42" name="Shape 740"/>
          <p:cNvSpPr/>
          <p:nvPr/>
        </p:nvSpPr>
        <p:spPr>
          <a:xfrm>
            <a:off x="5737860" y="60149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43" name="Shape 741"/>
          <p:cNvSpPr/>
          <p:nvPr/>
        </p:nvSpPr>
        <p:spPr>
          <a:xfrm>
            <a:off x="5843016" y="60149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44" name="Shape 742"/>
          <p:cNvSpPr/>
          <p:nvPr/>
        </p:nvSpPr>
        <p:spPr>
          <a:xfrm>
            <a:off x="5948172" y="60149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45" name="Shape 743"/>
          <p:cNvSpPr/>
          <p:nvPr/>
        </p:nvSpPr>
        <p:spPr>
          <a:xfrm>
            <a:off x="5212080" y="60588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46" name="Shape 744"/>
          <p:cNvSpPr/>
          <p:nvPr/>
        </p:nvSpPr>
        <p:spPr>
          <a:xfrm>
            <a:off x="5317236" y="60588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47" name="Shape 745"/>
          <p:cNvSpPr/>
          <p:nvPr/>
        </p:nvSpPr>
        <p:spPr>
          <a:xfrm>
            <a:off x="5422392" y="60588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48" name="Shape 746"/>
          <p:cNvSpPr/>
          <p:nvPr/>
        </p:nvSpPr>
        <p:spPr>
          <a:xfrm>
            <a:off x="5527548" y="60588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49" name="Shape 747"/>
          <p:cNvSpPr/>
          <p:nvPr/>
        </p:nvSpPr>
        <p:spPr>
          <a:xfrm>
            <a:off x="5632704" y="60588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50" name="Shape 748"/>
          <p:cNvSpPr/>
          <p:nvPr/>
        </p:nvSpPr>
        <p:spPr>
          <a:xfrm>
            <a:off x="5737860" y="60588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51" name="Shape 749"/>
          <p:cNvSpPr/>
          <p:nvPr/>
        </p:nvSpPr>
        <p:spPr>
          <a:xfrm>
            <a:off x="5843016" y="60588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52" name="Shape 750"/>
          <p:cNvSpPr/>
          <p:nvPr/>
        </p:nvSpPr>
        <p:spPr>
          <a:xfrm>
            <a:off x="5948172" y="60588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53" name="Shape 751"/>
          <p:cNvSpPr/>
          <p:nvPr/>
        </p:nvSpPr>
        <p:spPr>
          <a:xfrm>
            <a:off x="8321040" y="5020056"/>
            <a:ext cx="3794760" cy="1152144"/>
          </a:xfrm>
          <a:prstGeom prst="roundRect">
            <a:avLst>
              <a:gd name="adj" fmla="val 634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754" name="Text 752"/>
          <p:cNvSpPr/>
          <p:nvPr/>
        </p:nvSpPr>
        <p:spPr>
          <a:xfrm>
            <a:off x="8430768" y="5111496"/>
            <a:ext cx="685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79C0FF"/>
                </a:solidFill>
              </a:rPr>
              <a:t>♚</a:t>
            </a:r>
            <a:endParaRPr lang="en-US" sz="3800" dirty="0"/>
          </a:p>
        </p:txBody>
      </p:sp>
      <p:sp>
        <p:nvSpPr>
          <p:cNvPr id="755" name="Text 753"/>
          <p:cNvSpPr/>
          <p:nvPr/>
        </p:nvSpPr>
        <p:spPr>
          <a:xfrm>
            <a:off x="9189720" y="5157216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9C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BlackKing</a:t>
            </a:r>
            <a:endParaRPr lang="en-US" sz="1300" dirty="0"/>
          </a:p>
        </p:txBody>
      </p:sp>
      <p:sp>
        <p:nvSpPr>
          <p:cNvPr id="756" name="Text 754"/>
          <p:cNvSpPr/>
          <p:nvPr/>
        </p:nvSpPr>
        <p:spPr>
          <a:xfrm>
            <a:off x="9189720" y="5477256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0x1000000000000000</a:t>
            </a:r>
            <a:endParaRPr lang="en-US" sz="950" dirty="0"/>
          </a:p>
        </p:txBody>
      </p:sp>
      <p:sp>
        <p:nvSpPr>
          <p:cNvPr id="757" name="Shape 755"/>
          <p:cNvSpPr/>
          <p:nvPr/>
        </p:nvSpPr>
        <p:spPr>
          <a:xfrm>
            <a:off x="9189720" y="575157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58" name="Shape 756"/>
          <p:cNvSpPr/>
          <p:nvPr/>
        </p:nvSpPr>
        <p:spPr>
          <a:xfrm>
            <a:off x="9294876" y="575157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59" name="Shape 757"/>
          <p:cNvSpPr/>
          <p:nvPr/>
        </p:nvSpPr>
        <p:spPr>
          <a:xfrm>
            <a:off x="9400032" y="575157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60" name="Shape 758"/>
          <p:cNvSpPr/>
          <p:nvPr/>
        </p:nvSpPr>
        <p:spPr>
          <a:xfrm>
            <a:off x="9505188" y="575157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61" name="Shape 759"/>
          <p:cNvSpPr/>
          <p:nvPr/>
        </p:nvSpPr>
        <p:spPr>
          <a:xfrm>
            <a:off x="9610344" y="575157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62" name="Shape 760"/>
          <p:cNvSpPr/>
          <p:nvPr/>
        </p:nvSpPr>
        <p:spPr>
          <a:xfrm>
            <a:off x="9715500" y="575157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63" name="Shape 761"/>
          <p:cNvSpPr/>
          <p:nvPr/>
        </p:nvSpPr>
        <p:spPr>
          <a:xfrm>
            <a:off x="9820656" y="575157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64" name="Shape 762"/>
          <p:cNvSpPr/>
          <p:nvPr/>
        </p:nvSpPr>
        <p:spPr>
          <a:xfrm>
            <a:off x="9925812" y="5751576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65" name="Shape 763"/>
          <p:cNvSpPr/>
          <p:nvPr/>
        </p:nvSpPr>
        <p:spPr>
          <a:xfrm>
            <a:off x="9189720" y="5795467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766" name="Shape 764"/>
          <p:cNvSpPr/>
          <p:nvPr/>
        </p:nvSpPr>
        <p:spPr>
          <a:xfrm>
            <a:off x="9294876" y="5795467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767" name="Shape 765"/>
          <p:cNvSpPr/>
          <p:nvPr/>
        </p:nvSpPr>
        <p:spPr>
          <a:xfrm>
            <a:off x="9400032" y="5795467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768" name="Shape 766"/>
          <p:cNvSpPr/>
          <p:nvPr/>
        </p:nvSpPr>
        <p:spPr>
          <a:xfrm>
            <a:off x="9505188" y="5795467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769" name="Shape 767"/>
          <p:cNvSpPr/>
          <p:nvPr/>
        </p:nvSpPr>
        <p:spPr>
          <a:xfrm>
            <a:off x="9610344" y="5795467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770" name="Shape 768"/>
          <p:cNvSpPr/>
          <p:nvPr/>
        </p:nvSpPr>
        <p:spPr>
          <a:xfrm>
            <a:off x="9715500" y="5795467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771" name="Shape 769"/>
          <p:cNvSpPr/>
          <p:nvPr/>
        </p:nvSpPr>
        <p:spPr>
          <a:xfrm>
            <a:off x="9820656" y="5795467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772" name="Shape 770"/>
          <p:cNvSpPr/>
          <p:nvPr/>
        </p:nvSpPr>
        <p:spPr>
          <a:xfrm>
            <a:off x="9925812" y="5795467"/>
            <a:ext cx="91440" cy="36576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773" name="Shape 771"/>
          <p:cNvSpPr/>
          <p:nvPr/>
        </p:nvSpPr>
        <p:spPr>
          <a:xfrm>
            <a:off x="9189720" y="583935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74" name="Shape 772"/>
          <p:cNvSpPr/>
          <p:nvPr/>
        </p:nvSpPr>
        <p:spPr>
          <a:xfrm>
            <a:off x="9294876" y="583935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75" name="Shape 773"/>
          <p:cNvSpPr/>
          <p:nvPr/>
        </p:nvSpPr>
        <p:spPr>
          <a:xfrm>
            <a:off x="9400032" y="583935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76" name="Shape 774"/>
          <p:cNvSpPr/>
          <p:nvPr/>
        </p:nvSpPr>
        <p:spPr>
          <a:xfrm>
            <a:off x="9505188" y="583935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77" name="Shape 775"/>
          <p:cNvSpPr/>
          <p:nvPr/>
        </p:nvSpPr>
        <p:spPr>
          <a:xfrm>
            <a:off x="9610344" y="583935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78" name="Shape 776"/>
          <p:cNvSpPr/>
          <p:nvPr/>
        </p:nvSpPr>
        <p:spPr>
          <a:xfrm>
            <a:off x="9715500" y="583935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79" name="Shape 777"/>
          <p:cNvSpPr/>
          <p:nvPr/>
        </p:nvSpPr>
        <p:spPr>
          <a:xfrm>
            <a:off x="9820656" y="583935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80" name="Shape 778"/>
          <p:cNvSpPr/>
          <p:nvPr/>
        </p:nvSpPr>
        <p:spPr>
          <a:xfrm>
            <a:off x="9925812" y="5839358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81" name="Shape 779"/>
          <p:cNvSpPr/>
          <p:nvPr/>
        </p:nvSpPr>
        <p:spPr>
          <a:xfrm>
            <a:off x="9189720" y="588325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82" name="Shape 780"/>
          <p:cNvSpPr/>
          <p:nvPr/>
        </p:nvSpPr>
        <p:spPr>
          <a:xfrm>
            <a:off x="9294876" y="588325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83" name="Shape 781"/>
          <p:cNvSpPr/>
          <p:nvPr/>
        </p:nvSpPr>
        <p:spPr>
          <a:xfrm>
            <a:off x="9400032" y="588325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84" name="Shape 782"/>
          <p:cNvSpPr/>
          <p:nvPr/>
        </p:nvSpPr>
        <p:spPr>
          <a:xfrm>
            <a:off x="9505188" y="588325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85" name="Shape 783"/>
          <p:cNvSpPr/>
          <p:nvPr/>
        </p:nvSpPr>
        <p:spPr>
          <a:xfrm>
            <a:off x="9610344" y="588325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86" name="Shape 784"/>
          <p:cNvSpPr/>
          <p:nvPr/>
        </p:nvSpPr>
        <p:spPr>
          <a:xfrm>
            <a:off x="9715500" y="588325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87" name="Shape 785"/>
          <p:cNvSpPr/>
          <p:nvPr/>
        </p:nvSpPr>
        <p:spPr>
          <a:xfrm>
            <a:off x="9820656" y="588325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88" name="Shape 786"/>
          <p:cNvSpPr/>
          <p:nvPr/>
        </p:nvSpPr>
        <p:spPr>
          <a:xfrm>
            <a:off x="9925812" y="5883250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89" name="Shape 787"/>
          <p:cNvSpPr/>
          <p:nvPr/>
        </p:nvSpPr>
        <p:spPr>
          <a:xfrm>
            <a:off x="9189720" y="592714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90" name="Shape 788"/>
          <p:cNvSpPr/>
          <p:nvPr/>
        </p:nvSpPr>
        <p:spPr>
          <a:xfrm>
            <a:off x="9294876" y="592714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91" name="Shape 789"/>
          <p:cNvSpPr/>
          <p:nvPr/>
        </p:nvSpPr>
        <p:spPr>
          <a:xfrm>
            <a:off x="9400032" y="592714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92" name="Shape 790"/>
          <p:cNvSpPr/>
          <p:nvPr/>
        </p:nvSpPr>
        <p:spPr>
          <a:xfrm>
            <a:off x="9505188" y="592714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93" name="Shape 791"/>
          <p:cNvSpPr/>
          <p:nvPr/>
        </p:nvSpPr>
        <p:spPr>
          <a:xfrm>
            <a:off x="9610344" y="592714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94" name="Shape 792"/>
          <p:cNvSpPr/>
          <p:nvPr/>
        </p:nvSpPr>
        <p:spPr>
          <a:xfrm>
            <a:off x="9715500" y="592714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95" name="Shape 793"/>
          <p:cNvSpPr/>
          <p:nvPr/>
        </p:nvSpPr>
        <p:spPr>
          <a:xfrm>
            <a:off x="9820656" y="592714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96" name="Shape 794"/>
          <p:cNvSpPr/>
          <p:nvPr/>
        </p:nvSpPr>
        <p:spPr>
          <a:xfrm>
            <a:off x="9925812" y="5927141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97" name="Shape 795"/>
          <p:cNvSpPr/>
          <p:nvPr/>
        </p:nvSpPr>
        <p:spPr>
          <a:xfrm>
            <a:off x="9189720" y="59710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98" name="Shape 796"/>
          <p:cNvSpPr/>
          <p:nvPr/>
        </p:nvSpPr>
        <p:spPr>
          <a:xfrm>
            <a:off x="9294876" y="59710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99" name="Shape 797"/>
          <p:cNvSpPr/>
          <p:nvPr/>
        </p:nvSpPr>
        <p:spPr>
          <a:xfrm>
            <a:off x="9400032" y="59710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800" name="Shape 798"/>
          <p:cNvSpPr/>
          <p:nvPr/>
        </p:nvSpPr>
        <p:spPr>
          <a:xfrm>
            <a:off x="9505188" y="59710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801" name="Shape 799"/>
          <p:cNvSpPr/>
          <p:nvPr/>
        </p:nvSpPr>
        <p:spPr>
          <a:xfrm>
            <a:off x="9610344" y="59710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802" name="Shape 800"/>
          <p:cNvSpPr/>
          <p:nvPr/>
        </p:nvSpPr>
        <p:spPr>
          <a:xfrm>
            <a:off x="9715500" y="59710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803" name="Shape 801"/>
          <p:cNvSpPr/>
          <p:nvPr/>
        </p:nvSpPr>
        <p:spPr>
          <a:xfrm>
            <a:off x="9820656" y="59710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804" name="Shape 802"/>
          <p:cNvSpPr/>
          <p:nvPr/>
        </p:nvSpPr>
        <p:spPr>
          <a:xfrm>
            <a:off x="9925812" y="5971032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805" name="Shape 803"/>
          <p:cNvSpPr/>
          <p:nvPr/>
        </p:nvSpPr>
        <p:spPr>
          <a:xfrm>
            <a:off x="9189720" y="60149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806" name="Shape 804"/>
          <p:cNvSpPr/>
          <p:nvPr/>
        </p:nvSpPr>
        <p:spPr>
          <a:xfrm>
            <a:off x="9294876" y="60149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807" name="Shape 805"/>
          <p:cNvSpPr/>
          <p:nvPr/>
        </p:nvSpPr>
        <p:spPr>
          <a:xfrm>
            <a:off x="9400032" y="60149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808" name="Shape 806"/>
          <p:cNvSpPr/>
          <p:nvPr/>
        </p:nvSpPr>
        <p:spPr>
          <a:xfrm>
            <a:off x="9505188" y="60149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809" name="Shape 807"/>
          <p:cNvSpPr/>
          <p:nvPr/>
        </p:nvSpPr>
        <p:spPr>
          <a:xfrm>
            <a:off x="9610344" y="60149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810" name="Shape 808"/>
          <p:cNvSpPr/>
          <p:nvPr/>
        </p:nvSpPr>
        <p:spPr>
          <a:xfrm>
            <a:off x="9715500" y="60149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811" name="Shape 809"/>
          <p:cNvSpPr/>
          <p:nvPr/>
        </p:nvSpPr>
        <p:spPr>
          <a:xfrm>
            <a:off x="9820656" y="60149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812" name="Shape 810"/>
          <p:cNvSpPr/>
          <p:nvPr/>
        </p:nvSpPr>
        <p:spPr>
          <a:xfrm>
            <a:off x="9925812" y="6014923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813" name="Shape 811"/>
          <p:cNvSpPr/>
          <p:nvPr/>
        </p:nvSpPr>
        <p:spPr>
          <a:xfrm>
            <a:off x="9189720" y="60588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814" name="Shape 812"/>
          <p:cNvSpPr/>
          <p:nvPr/>
        </p:nvSpPr>
        <p:spPr>
          <a:xfrm>
            <a:off x="9294876" y="60588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815" name="Shape 813"/>
          <p:cNvSpPr/>
          <p:nvPr/>
        </p:nvSpPr>
        <p:spPr>
          <a:xfrm>
            <a:off x="9400032" y="60588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816" name="Shape 814"/>
          <p:cNvSpPr/>
          <p:nvPr/>
        </p:nvSpPr>
        <p:spPr>
          <a:xfrm>
            <a:off x="9505188" y="60588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817" name="Shape 815"/>
          <p:cNvSpPr/>
          <p:nvPr/>
        </p:nvSpPr>
        <p:spPr>
          <a:xfrm>
            <a:off x="9610344" y="60588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818" name="Shape 816"/>
          <p:cNvSpPr/>
          <p:nvPr/>
        </p:nvSpPr>
        <p:spPr>
          <a:xfrm>
            <a:off x="9715500" y="60588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819" name="Shape 817"/>
          <p:cNvSpPr/>
          <p:nvPr/>
        </p:nvSpPr>
        <p:spPr>
          <a:xfrm>
            <a:off x="9820656" y="60588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820" name="Shape 818"/>
          <p:cNvSpPr/>
          <p:nvPr/>
        </p:nvSpPr>
        <p:spPr>
          <a:xfrm>
            <a:off x="9925812" y="6058814"/>
            <a:ext cx="91440" cy="36576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821" name="Text 819"/>
          <p:cNvSpPr/>
          <p:nvPr/>
        </p:nvSpPr>
        <p:spPr>
          <a:xfrm>
            <a:off x="365760" y="6309360"/>
            <a:ext cx="1170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 all 12 together with | (bitwise OR) to get OccupiedSquares — used for collision detection in one CPU instruction.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Bitwise Move Generation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694944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Shifting bits replaces slow loops — the engine uses CPU bitwise instructions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11430000" cy="22860"/>
          </a:xfrm>
          <a:prstGeom prst="rect">
            <a:avLst/>
          </a:prstGeom>
          <a:solidFill>
            <a:srgbClr val="F78166"/>
          </a:solidFill>
          <a:ln w="12700">
            <a:solidFill>
              <a:srgbClr val="F781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3258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781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White Pawn Push (1 square forward)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1664208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"Forward" for white = shifting bits LEFT by 8 positions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(one rank = 8 bits in the integer)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5212080" cy="2651760"/>
          </a:xfrm>
          <a:prstGeom prst="roundRect">
            <a:avLst>
              <a:gd name="adj" fmla="val 2759"/>
            </a:avLst>
          </a:prstGeom>
          <a:solidFill>
            <a:srgbClr val="0D1117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148840"/>
            <a:ext cx="54864" cy="2651760"/>
          </a:xfrm>
          <a:prstGeom prst="rect">
            <a:avLst/>
          </a:prstGeom>
          <a:solidFill>
            <a:srgbClr val="79C0FF"/>
          </a:solidFill>
          <a:ln w="12700">
            <a:solidFill>
              <a:srgbClr val="79C0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148840"/>
            <a:ext cx="5084064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White pawn single push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ulong singlePush =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(whitePawns &lt;&lt; 8) &amp; ~occupiedSquares;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Double push from rank 2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ulong doublePush =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((singlePush &amp; rank3Mask) &lt;&lt; 8)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&amp; ~occupiedSquares;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Captures (diagonal, left &amp; right)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ulong captureLeft  = (whitePawns &lt;&lt; 7) &amp; blackPieces;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ulong captureRight = (whitePawns &lt;&lt; 9) &amp; blackPieces;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94360" y="48463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6D3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loops. No board scanning.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6D3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shift + one AND = all legal pawn moves.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80760" y="1188720"/>
            <a:ext cx="6035040" cy="4846320"/>
          </a:xfrm>
          <a:prstGeom prst="roundRect">
            <a:avLst>
              <a:gd name="adj" fmla="val 150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1325880"/>
            <a:ext cx="5577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Visual: pawn on d2 → d4 (double push)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09360" y="1691640"/>
            <a:ext cx="530352" cy="530352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39712" y="1691640"/>
            <a:ext cx="530352" cy="53035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0064" y="1691640"/>
            <a:ext cx="530352" cy="530352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900416" y="1691640"/>
            <a:ext cx="530352" cy="53035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30768" y="1691640"/>
            <a:ext cx="530352" cy="530352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961120" y="1691640"/>
            <a:ext cx="530352" cy="53035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491472" y="1691640"/>
            <a:ext cx="530352" cy="530352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21824" y="1691640"/>
            <a:ext cx="530352" cy="53035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09360" y="2221992"/>
            <a:ext cx="530352" cy="53035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39712" y="2221992"/>
            <a:ext cx="530352" cy="530352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70064" y="2221992"/>
            <a:ext cx="530352" cy="53035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00416" y="2221992"/>
            <a:ext cx="530352" cy="530352"/>
          </a:xfrm>
          <a:prstGeom prst="rect">
            <a:avLst/>
          </a:prstGeom>
          <a:solidFill>
            <a:srgbClr val="F78166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00416" y="2221992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D1117"/>
                </a:solidFill>
              </a:rPr>
              <a:t>♙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8430768" y="2221992"/>
            <a:ext cx="530352" cy="53035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961120" y="2221992"/>
            <a:ext cx="530352" cy="530352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491472" y="2221992"/>
            <a:ext cx="530352" cy="53035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021824" y="2221992"/>
            <a:ext cx="530352" cy="530352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09360" y="2752344"/>
            <a:ext cx="530352" cy="530352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839712" y="2752344"/>
            <a:ext cx="530352" cy="53035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370064" y="2752344"/>
            <a:ext cx="530352" cy="530352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00416" y="2752344"/>
            <a:ext cx="530352" cy="530352"/>
          </a:xfrm>
          <a:prstGeom prst="rect">
            <a:avLst/>
          </a:prstGeom>
          <a:solidFill>
            <a:srgbClr val="1B2E3A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900416" y="2752344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9C0FF"/>
                </a:solidFill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8430768" y="2752344"/>
            <a:ext cx="530352" cy="530352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961120" y="2752344"/>
            <a:ext cx="530352" cy="53035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491472" y="2752344"/>
            <a:ext cx="530352" cy="530352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021824" y="2752344"/>
            <a:ext cx="530352" cy="53035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309360" y="3282696"/>
            <a:ext cx="530352" cy="53035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39712" y="3282696"/>
            <a:ext cx="530352" cy="530352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370064" y="3282696"/>
            <a:ext cx="530352" cy="53035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900416" y="3282696"/>
            <a:ext cx="530352" cy="530352"/>
          </a:xfrm>
          <a:prstGeom prst="rect">
            <a:avLst/>
          </a:prstGeom>
          <a:solidFill>
            <a:srgbClr val="1B3A1B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900416" y="3282696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6D364"/>
                </a:solidFill>
              </a:rPr>
              <a:t>↑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8430768" y="3282696"/>
            <a:ext cx="530352" cy="53035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961120" y="3282696"/>
            <a:ext cx="530352" cy="530352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491472" y="3282696"/>
            <a:ext cx="530352" cy="53035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021824" y="3282696"/>
            <a:ext cx="530352" cy="530352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309360" y="3813048"/>
            <a:ext cx="530352" cy="530352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839712" y="3813048"/>
            <a:ext cx="530352" cy="53035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370064" y="3813048"/>
            <a:ext cx="530352" cy="530352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900416" y="3813048"/>
            <a:ext cx="530352" cy="53035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430768" y="3813048"/>
            <a:ext cx="530352" cy="530352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961120" y="3813048"/>
            <a:ext cx="530352" cy="53035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491472" y="3813048"/>
            <a:ext cx="530352" cy="530352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021824" y="3813048"/>
            <a:ext cx="530352" cy="53035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309360" y="4343400"/>
            <a:ext cx="530352" cy="53035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839712" y="4343400"/>
            <a:ext cx="530352" cy="530352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370064" y="4343400"/>
            <a:ext cx="530352" cy="53035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900416" y="4343400"/>
            <a:ext cx="530352" cy="530352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430768" y="4343400"/>
            <a:ext cx="530352" cy="53035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961120" y="4343400"/>
            <a:ext cx="530352" cy="530352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9491472" y="4343400"/>
            <a:ext cx="530352" cy="53035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0021824" y="4343400"/>
            <a:ext cx="530352" cy="530352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309360" y="4873752"/>
            <a:ext cx="530352" cy="530352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839712" y="4873752"/>
            <a:ext cx="530352" cy="53035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370064" y="4873752"/>
            <a:ext cx="530352" cy="530352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900416" y="4873752"/>
            <a:ext cx="530352" cy="53035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430768" y="4873752"/>
            <a:ext cx="530352" cy="530352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961120" y="4873752"/>
            <a:ext cx="530352" cy="53035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491472" y="4873752"/>
            <a:ext cx="530352" cy="530352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021824" y="4873752"/>
            <a:ext cx="530352" cy="53035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309360" y="5404104"/>
            <a:ext cx="530352" cy="53035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839712" y="5404104"/>
            <a:ext cx="530352" cy="530352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370064" y="5404104"/>
            <a:ext cx="530352" cy="53035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900416" y="5404104"/>
            <a:ext cx="530352" cy="530352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430768" y="5404104"/>
            <a:ext cx="530352" cy="53035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8961120" y="5404104"/>
            <a:ext cx="530352" cy="530352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9491472" y="5404104"/>
            <a:ext cx="530352" cy="530352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021824" y="5404104"/>
            <a:ext cx="530352" cy="530352"/>
          </a:xfrm>
          <a:prstGeom prst="rect">
            <a:avLst/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309360" y="5971032"/>
            <a:ext cx="530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</a:rPr>
              <a:t>a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6839712" y="5971032"/>
            <a:ext cx="530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</a:rPr>
              <a:t>b</a:t>
            </a:r>
            <a:endParaRPr lang="en-US" sz="900" dirty="0"/>
          </a:p>
        </p:txBody>
      </p:sp>
      <p:sp>
        <p:nvSpPr>
          <p:cNvPr id="83" name="Text 81"/>
          <p:cNvSpPr/>
          <p:nvPr/>
        </p:nvSpPr>
        <p:spPr>
          <a:xfrm>
            <a:off x="7370064" y="5971032"/>
            <a:ext cx="530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</a:rPr>
              <a:t>c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7900416" y="5971032"/>
            <a:ext cx="530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</a:rPr>
              <a:t>d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8430768" y="5971032"/>
            <a:ext cx="530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</a:rPr>
              <a:t>e</a:t>
            </a:r>
            <a:endParaRPr lang="en-US" sz="900" dirty="0"/>
          </a:p>
        </p:txBody>
      </p:sp>
      <p:sp>
        <p:nvSpPr>
          <p:cNvPr id="86" name="Text 84"/>
          <p:cNvSpPr/>
          <p:nvPr/>
        </p:nvSpPr>
        <p:spPr>
          <a:xfrm>
            <a:off x="8961120" y="5971032"/>
            <a:ext cx="530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</a:rPr>
              <a:t>f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9491472" y="5971032"/>
            <a:ext cx="530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</a:rPr>
              <a:t>g</a:t>
            </a:r>
            <a:endParaRPr lang="en-US" sz="900" dirty="0"/>
          </a:p>
        </p:txBody>
      </p:sp>
      <p:sp>
        <p:nvSpPr>
          <p:cNvPr id="88" name="Text 86"/>
          <p:cNvSpPr/>
          <p:nvPr/>
        </p:nvSpPr>
        <p:spPr>
          <a:xfrm>
            <a:off x="10021824" y="5971032"/>
            <a:ext cx="530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</a:rPr>
              <a:t>h</a:t>
            </a:r>
            <a:endParaRPr lang="en-US" sz="900" dirty="0"/>
          </a:p>
        </p:txBody>
      </p:sp>
      <p:sp>
        <p:nvSpPr>
          <p:cNvPr id="89" name="Text 87"/>
          <p:cNvSpPr/>
          <p:nvPr/>
        </p:nvSpPr>
        <p:spPr>
          <a:xfrm>
            <a:off x="8467344" y="496519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78166"/>
                </a:solidFill>
              </a:rPr>
              <a:t>d2 (source)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8467344" y="390448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D364"/>
                </a:solidFill>
              </a:rPr>
              <a:t>d4 (target)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6080760" y="4983480"/>
            <a:ext cx="6035040" cy="685800"/>
          </a:xfrm>
          <a:prstGeom prst="roundRect">
            <a:avLst>
              <a:gd name="adj" fmla="val 10667"/>
            </a:avLst>
          </a:prstGeom>
          <a:solidFill>
            <a:srgbClr val="0D1117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80760" y="4983480"/>
            <a:ext cx="54864" cy="685800"/>
          </a:xfrm>
          <a:prstGeom prst="rect">
            <a:avLst/>
          </a:prstGeom>
          <a:solidFill>
            <a:srgbClr val="79C0FF"/>
          </a:solidFill>
          <a:ln w="12700">
            <a:solidFill>
              <a:srgbClr val="79C0FF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190488" y="4983480"/>
            <a:ext cx="590702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Bit 11 (d2) &lt;&lt; 16 = Bit 27 (d4)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0x800  &lt;&lt; 16 = 0x8000000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Zobrist Hashing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694944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engine gives every unique board position a fingerprint — a 64-bit hash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11430000" cy="22860"/>
          </a:xfrm>
          <a:prstGeom prst="rect">
            <a:avLst/>
          </a:prstGeom>
          <a:solidFill>
            <a:srgbClr val="F78166"/>
          </a:solidFill>
          <a:ln w="12700">
            <a:solidFill>
              <a:srgbClr val="F781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5029200" cy="1188720"/>
          </a:xfrm>
          <a:prstGeom prst="roundRect">
            <a:avLst>
              <a:gd name="adj" fmla="val 6154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3B3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1572768"/>
            <a:ext cx="4663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engine searches the same position many times through different move orders.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hash lets it instantly recognise: "I've seen this before" and skip the work.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23560" y="1188720"/>
            <a:ext cx="6492240" cy="1188720"/>
          </a:xfrm>
          <a:prstGeom prst="roundRect">
            <a:avLst>
              <a:gd name="adj" fmla="val 6154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52160" y="128016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9C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it's built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852160" y="1572768"/>
            <a:ext cx="6126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startup, generate 768 random 64-bit numbers (12 piece types × 64 squares).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each piece on the board, XOR its random number into the hash.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514600"/>
            <a:ext cx="11750040" cy="1965960"/>
          </a:xfrm>
          <a:prstGeom prst="roundRect">
            <a:avLst>
              <a:gd name="adj" fmla="val 3721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63347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Building the hash for the starting position (excerpt):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29260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Piece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240280" y="29260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Square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709160" y="2926080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Random Key (64-bit)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686800" y="29260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XOR result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02920" y="321868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White King  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240280" y="321868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e1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09160" y="3218688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0xA1B2C3D4E5F60708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686800" y="321868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0xA1B2C3D4E5F60708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2920" y="351129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White Queen ♕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240280" y="3511296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709160" y="3511296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0x3F8E1A2B4C5D6E7F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686800" y="3511296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0x9E3CDF7EA9A96177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02920" y="380390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White Pawn  ♙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240280" y="380390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709160" y="3803904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0x0102030405060708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686800" y="3803904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0x9F3EDC7EACAF6677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2920" y="409651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… (all 32 pieces)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240280" y="409651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709160" y="4096512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686800" y="409651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FINAL HASH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4617720"/>
            <a:ext cx="117500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" y="4736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3B3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Incremental Update — O(1) cost per move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57200" y="5010912"/>
            <a:ext cx="11521440" cy="960120"/>
          </a:xfrm>
          <a:prstGeom prst="roundRect">
            <a:avLst>
              <a:gd name="adj" fmla="val 7619"/>
            </a:avLst>
          </a:prstGeom>
          <a:solidFill>
            <a:srgbClr val="0D1117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7200" y="5010912"/>
            <a:ext cx="54864" cy="960120"/>
          </a:xfrm>
          <a:prstGeom prst="rect">
            <a:avLst/>
          </a:prstGeom>
          <a:solidFill>
            <a:srgbClr val="79C0FF"/>
          </a:solidFill>
          <a:ln w="12700">
            <a:solidFill>
              <a:srgbClr val="79C0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6928" y="5010912"/>
            <a:ext cx="1139342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You moved pawn from d2 → d4: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hash ^= ZobristTable[WhitePawn, d2];   // XOR removes pawn from d2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hash ^= ZobristTable[WhitePawn, d4];   // XOR adds pawn on d4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 need to rehash 32 pieces — just 2 XOR operations!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Transposition Table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694944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engine's long-term memory — keyed by Zobrist hash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11430000" cy="22860"/>
          </a:xfrm>
          <a:prstGeom prst="rect">
            <a:avLst/>
          </a:prstGeom>
          <a:solidFill>
            <a:srgbClr val="F78166"/>
          </a:solidFill>
          <a:ln w="12700">
            <a:solidFill>
              <a:srgbClr val="F781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1750040" cy="1005840"/>
          </a:xfrm>
          <a:prstGeom prst="roundRect">
            <a:avLst>
              <a:gd name="adj" fmla="val 7273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d4 → Nf6  and  Nf6 → d4  reach the same board.  Without a table the engine recalculates it twice.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the table it recognises the hash, loads the cached result, and skips the entire subtree.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23774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Entry structure: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697480"/>
            <a:ext cx="11750040" cy="4572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6974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ZobristKey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651760" y="26974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ulong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931920" y="2697480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64-bit hash to verify the entry is correct (avoids collisions)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200400"/>
            <a:ext cx="11750040" cy="457200"/>
          </a:xfrm>
          <a:prstGeom prst="roundRect">
            <a:avLst>
              <a:gd name="adj" fmla="val 16000"/>
            </a:avLst>
          </a:prstGeom>
          <a:solidFill>
            <a:srgbClr val="0D1117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2004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BestMove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651760" y="320040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Move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931920" y="3200400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best move found for this position — used for Move Ordering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703320"/>
            <a:ext cx="11750040" cy="4572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70332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651760" y="370332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931920" y="3703320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Evaluation score in centipawns at the time of storage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4206240"/>
            <a:ext cx="11750040" cy="457200"/>
          </a:xfrm>
          <a:prstGeom prst="roundRect">
            <a:avLst>
              <a:gd name="adj" fmla="val 16000"/>
            </a:avLst>
          </a:prstGeom>
          <a:solidFill>
            <a:srgbClr val="0D1117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42062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Depth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651760" y="420624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931920" y="4206240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deep the search was when this entry was created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5760" y="4709160"/>
            <a:ext cx="11750040" cy="4572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47091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NodeType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651760" y="470916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931920" y="4709160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Exact score / Lower bound (Beta) / Upper bound (Alpha)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5212080"/>
            <a:ext cx="11750040" cy="457200"/>
          </a:xfrm>
          <a:prstGeom prst="roundRect">
            <a:avLst>
              <a:gd name="adj" fmla="val 16000"/>
            </a:avLst>
          </a:prstGeom>
          <a:solidFill>
            <a:srgbClr val="0D1117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52120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651760" y="52120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byte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931920" y="5212080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move counter — old entries are overwritten first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5806440"/>
            <a:ext cx="11750040" cy="1005840"/>
          </a:xfrm>
          <a:prstGeom prst="roundRect">
            <a:avLst>
              <a:gd name="adj" fmla="val 7273"/>
            </a:avLst>
          </a:prstGeom>
          <a:solidFill>
            <a:srgbClr val="0D1117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5806440"/>
            <a:ext cx="54864" cy="1005840"/>
          </a:xfrm>
          <a:prstGeom prst="rect">
            <a:avLst/>
          </a:prstGeom>
          <a:solidFill>
            <a:srgbClr val="79C0FF"/>
          </a:solidFill>
          <a:ln w="12700">
            <a:solidFill>
              <a:srgbClr val="79C0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5488" y="5806440"/>
            <a:ext cx="1162202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Probe at start of every node: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entry = _ttable[hash % Size];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(entry.Key == hash &amp;&amp; entry.Depth &gt;= depth)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entry.Score;  // ← instant answer, skips millions of nodes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Iterative Deepening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694944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 shallow, go deeper — and always have an answer ready when time runs out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11430000" cy="22860"/>
          </a:xfrm>
          <a:prstGeom prst="rect">
            <a:avLst/>
          </a:prstGeom>
          <a:solidFill>
            <a:srgbClr val="F78166"/>
          </a:solidFill>
          <a:ln w="12700">
            <a:solidFill>
              <a:srgbClr val="F781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8912" y="4800600"/>
            <a:ext cx="1188720" cy="228600"/>
          </a:xfrm>
          <a:prstGeom prst="rect">
            <a:avLst/>
          </a:prstGeom>
          <a:solidFill>
            <a:srgbClr val="56D364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4471416"/>
            <a:ext cx="1335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DF3"/>
                </a:solidFill>
              </a:rPr>
              <a:t>D1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206240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</a:rPr>
              <a:t>&lt; 1ms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20240" y="4389120"/>
            <a:ext cx="1188720" cy="640080"/>
          </a:xfrm>
          <a:prstGeom prst="rect">
            <a:avLst/>
          </a:prstGeom>
          <a:solidFill>
            <a:srgbClr val="56D364"/>
          </a:solidFill>
          <a:ln/>
        </p:spPr>
      </p:sp>
      <p:sp>
        <p:nvSpPr>
          <p:cNvPr id="9" name="Text 7"/>
          <p:cNvSpPr/>
          <p:nvPr/>
        </p:nvSpPr>
        <p:spPr>
          <a:xfrm>
            <a:off x="1847088" y="4059936"/>
            <a:ext cx="1335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DF3"/>
                </a:solidFill>
              </a:rPr>
              <a:t>D2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847088" y="3794760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</a:rPr>
              <a:t>~1ms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01568" y="3977640"/>
            <a:ext cx="1188720" cy="1051560"/>
          </a:xfrm>
          <a:prstGeom prst="rect">
            <a:avLst/>
          </a:prstGeom>
          <a:solidFill>
            <a:srgbClr val="56D364"/>
          </a:solidFill>
          <a:ln/>
        </p:spPr>
      </p:sp>
      <p:sp>
        <p:nvSpPr>
          <p:cNvPr id="12" name="Text 10"/>
          <p:cNvSpPr/>
          <p:nvPr/>
        </p:nvSpPr>
        <p:spPr>
          <a:xfrm>
            <a:off x="3328416" y="3648456"/>
            <a:ext cx="1335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DF3"/>
                </a:solidFill>
              </a:rPr>
              <a:t>D3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328416" y="3383280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</a:rPr>
              <a:t>~5ms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328416" y="4050792"/>
            <a:ext cx="133502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D1117"/>
                </a:solidFill>
              </a:rPr>
              <a:t>8,000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882896" y="3566160"/>
            <a:ext cx="1188720" cy="1463040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16" name="Text 14"/>
          <p:cNvSpPr/>
          <p:nvPr/>
        </p:nvSpPr>
        <p:spPr>
          <a:xfrm>
            <a:off x="4809744" y="3236976"/>
            <a:ext cx="1335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DF3"/>
                </a:solidFill>
              </a:rPr>
              <a:t>D4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809744" y="2971800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</a:rPr>
              <a:t>~40ms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809744" y="3639312"/>
            <a:ext cx="133502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D1117"/>
                </a:solidFill>
              </a:rPr>
              <a:t>160k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364224" y="3154680"/>
            <a:ext cx="1188720" cy="1874520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20" name="Text 18"/>
          <p:cNvSpPr/>
          <p:nvPr/>
        </p:nvSpPr>
        <p:spPr>
          <a:xfrm>
            <a:off x="6291072" y="2825496"/>
            <a:ext cx="1335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DF3"/>
                </a:solidFill>
              </a:rPr>
              <a:t>D5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2560320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</a:rPr>
              <a:t>~200ms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291072" y="3227832"/>
            <a:ext cx="1335024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D1117"/>
                </a:solidFill>
              </a:rPr>
              <a:t>3.2M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845552" y="2743200"/>
            <a:ext cx="1188720" cy="2286000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0" y="2414016"/>
            <a:ext cx="1335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DF3"/>
                </a:solidFill>
              </a:rPr>
              <a:t>D6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772400" y="2148840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</a:rPr>
              <a:t>~1s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772400" y="2816352"/>
            <a:ext cx="133502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D1117"/>
                </a:solidFill>
              </a:rPr>
              <a:t>64M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9326880" y="2331720"/>
            <a:ext cx="1188720" cy="2697480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28" name="Text 26"/>
          <p:cNvSpPr/>
          <p:nvPr/>
        </p:nvSpPr>
        <p:spPr>
          <a:xfrm>
            <a:off x="9253728" y="2002536"/>
            <a:ext cx="1335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DF3"/>
                </a:solidFill>
              </a:rPr>
              <a:t>D7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253728" y="1737360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</a:rPr>
              <a:t>~5s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253728" y="2404872"/>
            <a:ext cx="1335024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D1117"/>
                </a:solidFill>
              </a:rPr>
              <a:t>1.28B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10808208" y="1920240"/>
            <a:ext cx="1188720" cy="3108960"/>
          </a:xfrm>
          <a:prstGeom prst="rect">
            <a:avLst/>
          </a:prstGeom>
          <a:solidFill>
            <a:srgbClr val="3D1F1F"/>
          </a:solidFill>
          <a:ln/>
        </p:spPr>
      </p:sp>
      <p:sp>
        <p:nvSpPr>
          <p:cNvPr id="32" name="Text 30"/>
          <p:cNvSpPr/>
          <p:nvPr/>
        </p:nvSpPr>
        <p:spPr>
          <a:xfrm>
            <a:off x="10735056" y="1591056"/>
            <a:ext cx="1335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78166"/>
                </a:solidFill>
              </a:rPr>
              <a:t>D8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0735056" y="1325880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</a:rPr>
              <a:t>TIMEOUT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735056" y="1993392"/>
            <a:ext cx="1335024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D1117"/>
                </a:solidFill>
              </a:rPr>
              <a:t>25.6B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365760" y="5047488"/>
            <a:ext cx="11430000" cy="0"/>
          </a:xfrm>
          <a:prstGeom prst="line">
            <a:avLst/>
          </a:prstGeom>
          <a:noFill/>
          <a:ln w="12700">
            <a:solidFill>
              <a:srgbClr val="30363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5166360"/>
            <a:ext cx="5486400" cy="1371600"/>
          </a:xfrm>
          <a:prstGeom prst="roundRect">
            <a:avLst>
              <a:gd name="adj" fmla="val 5333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" y="52578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781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not just search Depth 8 directly?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594360" y="5559552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Because Depth 7 best-move seeds Depth 8 move ordering.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 if time runs out mid-Depth-8, you already have a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perfect Depth 7 answer to play — never waste a turn.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989320" y="5166360"/>
            <a:ext cx="6126480" cy="1371600"/>
          </a:xfrm>
          <a:prstGeom prst="roundRect">
            <a:avLst>
              <a:gd name="adj" fmla="val 5333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89320" y="5166360"/>
            <a:ext cx="6126480" cy="1371600"/>
          </a:xfrm>
          <a:prstGeom prst="roundRect">
            <a:avLst>
              <a:gd name="adj" fmla="val 5333"/>
            </a:avLst>
          </a:prstGeom>
          <a:solidFill>
            <a:srgbClr val="0D1117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89320" y="5166360"/>
            <a:ext cx="54864" cy="1371600"/>
          </a:xfrm>
          <a:prstGeom prst="rect">
            <a:avLst/>
          </a:prstGeom>
          <a:solidFill>
            <a:srgbClr val="79C0FF"/>
          </a:solidFill>
          <a:ln w="12700">
            <a:solidFill>
              <a:srgbClr val="79C0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99048" y="5166360"/>
            <a:ext cx="599846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(int depth = 1; depth &lt;= MAX_DEPTH; depth++) 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bestMove = Search(depth, -∞, +∞);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(TimerExpired()) break;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bestMove; // always from last COMPLETE depth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Alpha-Beta Pruning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694944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Throw away branches you don't need to look at — the single most important optimization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11430000" cy="22860"/>
          </a:xfrm>
          <a:prstGeom prst="rect">
            <a:avLst/>
          </a:prstGeom>
          <a:solidFill>
            <a:srgbClr val="F78166"/>
          </a:solidFill>
          <a:ln w="12700">
            <a:solidFill>
              <a:srgbClr val="F781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4846320" cy="18288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32588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781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 (α) — Best score White can guarantee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1627632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9C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Beta  (β) — Best score Black can guarantee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1938528"/>
            <a:ext cx="4480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the engine finds a move so bad that the opponent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would never allow it (score ≥ β), it stops looking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siblings.  That subtree is pruned.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355080" y="1645920"/>
            <a:ext cx="-2103120" cy="100584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55080" y="1645920"/>
            <a:ext cx="2743200" cy="100584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51960" y="2651760"/>
            <a:ext cx="-1280160" cy="105156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51960" y="2651760"/>
            <a:ext cx="1005840" cy="105156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098280" y="2651760"/>
            <a:ext cx="-1097280" cy="105156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098280" y="2651760"/>
            <a:ext cx="1371600" cy="1051560"/>
          </a:xfrm>
          <a:prstGeom prst="line">
            <a:avLst/>
          </a:prstGeom>
          <a:noFill/>
          <a:ln w="19050">
            <a:solidFill>
              <a:srgbClr val="3D1F1F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943600" y="1234440"/>
            <a:ext cx="82296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</a:rPr>
              <a:t>Root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840480" y="2240280"/>
            <a:ext cx="82296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0" y="224028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</a:rPr>
              <a:t>A=5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686800" y="2240280"/>
            <a:ext cx="82296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0" y="224028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</a:rPr>
              <a:t>B=3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60320" y="3291840"/>
            <a:ext cx="822960" cy="411480"/>
          </a:xfrm>
          <a:prstGeom prst="roundRect">
            <a:avLst>
              <a:gd name="adj" fmla="val 13333"/>
            </a:avLst>
          </a:prstGeom>
          <a:solidFill>
            <a:srgbClr val="56D364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60320" y="329184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846320" y="3291840"/>
            <a:ext cx="822960" cy="411480"/>
          </a:xfrm>
          <a:prstGeom prst="roundRect">
            <a:avLst>
              <a:gd name="adj" fmla="val 13333"/>
            </a:avLst>
          </a:prstGeom>
          <a:solidFill>
            <a:srgbClr val="56D364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329184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589520" y="3291840"/>
            <a:ext cx="822960" cy="411480"/>
          </a:xfrm>
          <a:prstGeom prst="roundRect">
            <a:avLst>
              <a:gd name="adj" fmla="val 13333"/>
            </a:avLst>
          </a:prstGeom>
          <a:solidFill>
            <a:srgbClr val="F78166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89520" y="329184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</a:rPr>
              <a:t>9!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0058400" y="3291840"/>
            <a:ext cx="822960" cy="411480"/>
          </a:xfrm>
          <a:prstGeom prst="roundRect">
            <a:avLst>
              <a:gd name="adj" fmla="val 13333"/>
            </a:avLst>
          </a:prstGeom>
          <a:solidFill>
            <a:srgbClr val="3D1F1F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058400" y="329184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6666"/>
                </a:solidFill>
              </a:rPr>
              <a:t>✗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144000" y="3794760"/>
            <a:ext cx="2926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PRUNED — B1 returned 9.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White already has A=5.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Black would choose B1≥9 over B.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White prefers A.  B2 is irrelevant.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760" y="4206240"/>
            <a:ext cx="4846320" cy="1005840"/>
          </a:xfrm>
          <a:prstGeom prst="roundRect">
            <a:avLst>
              <a:gd name="adj" fmla="val 7273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" y="431596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56D3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Effective branching factor drops from ~35 to ~6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594360" y="4590288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perfect move ordering, Alpha-Beta searches the SQUARE ROOT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the nodes a brute-force search would need.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5285232"/>
            <a:ext cx="11750040" cy="1325880"/>
          </a:xfrm>
          <a:prstGeom prst="roundRect">
            <a:avLst>
              <a:gd name="adj" fmla="val 5517"/>
            </a:avLst>
          </a:prstGeom>
          <a:solidFill>
            <a:srgbClr val="0D1117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5760" y="5285232"/>
            <a:ext cx="54864" cy="1325880"/>
          </a:xfrm>
          <a:prstGeom prst="rect">
            <a:avLst/>
          </a:prstGeom>
          <a:solidFill>
            <a:srgbClr val="79C0FF"/>
          </a:solidFill>
          <a:ln w="12700">
            <a:solidFill>
              <a:srgbClr val="79C0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" y="5285232"/>
            <a:ext cx="11622024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AlphaBeta(int depth, int alpha, int beta) 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foreach (Move m in moves) 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score = -AlphaBeta(depth-1, -beta, -alpha);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(score &gt;= beta)  return beta;  // ← CUT-OFF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(score &gt; alpha)  alpha = score;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alpha;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Move Ordering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694944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Alpha-Beta only prunes if you look at the best moves first — ordering is everything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11430000" cy="22860"/>
          </a:xfrm>
          <a:prstGeom prst="rect">
            <a:avLst/>
          </a:prstGeom>
          <a:solidFill>
            <a:srgbClr val="F78166"/>
          </a:solidFill>
          <a:ln w="12700">
            <a:solidFill>
              <a:srgbClr val="F781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07008"/>
            <a:ext cx="640080" cy="685800"/>
          </a:xfrm>
          <a:prstGeom prst="roundRect">
            <a:avLst>
              <a:gd name="adj" fmla="val 11429"/>
            </a:avLst>
          </a:prstGeom>
          <a:solidFill>
            <a:srgbClr val="F78166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207008"/>
            <a:ext cx="640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117"/>
                </a:solidFill>
              </a:rPr>
              <a:t>1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097280" y="1207008"/>
            <a:ext cx="1088136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8448" y="1243584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781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Hash Move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536192"/>
            <a:ext cx="10332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Best move from the Transposition Table for this exact position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002536"/>
            <a:ext cx="640080" cy="685800"/>
          </a:xfrm>
          <a:prstGeom prst="roundRect">
            <a:avLst>
              <a:gd name="adj" fmla="val 11429"/>
            </a:avLst>
          </a:prstGeom>
          <a:solidFill>
            <a:srgbClr val="F78166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002536"/>
            <a:ext cx="640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117"/>
                </a:solidFill>
              </a:rPr>
              <a:t>2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1097280" y="2002536"/>
            <a:ext cx="1088136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8448" y="203911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781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Winning Captures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98448" y="2331720"/>
            <a:ext cx="10332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Captures where you gain material (SEE score &gt; 0)  e.g. PxQ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2798064"/>
            <a:ext cx="640080" cy="685800"/>
          </a:xfrm>
          <a:prstGeom prst="roundRect">
            <a:avLst>
              <a:gd name="adj" fmla="val 11429"/>
            </a:avLst>
          </a:prstGeom>
          <a:solidFill>
            <a:srgbClr val="E3B341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798064"/>
            <a:ext cx="640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117"/>
                </a:solidFill>
              </a:rPr>
              <a:t>3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1097280" y="2798064"/>
            <a:ext cx="1088136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98448" y="283464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3B3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Killer Moves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98448" y="3127248"/>
            <a:ext cx="10332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Non-captures that caused a cut-off at this depth in sibling nodes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3593592"/>
            <a:ext cx="640080" cy="685800"/>
          </a:xfrm>
          <a:prstGeom prst="roundRect">
            <a:avLst>
              <a:gd name="adj" fmla="val 11429"/>
            </a:avLst>
          </a:prstGeom>
          <a:solidFill>
            <a:srgbClr val="8B949E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593592"/>
            <a:ext cx="640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117"/>
                </a:solidFill>
              </a:rPr>
              <a:t>4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1097280" y="3593592"/>
            <a:ext cx="1088136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298448" y="363016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Equal Captures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98448" y="3922776"/>
            <a:ext cx="10332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Captures where material gained = material lost  e.g. PxP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5760" y="4389120"/>
            <a:ext cx="640080" cy="685800"/>
          </a:xfrm>
          <a:prstGeom prst="roundRect">
            <a:avLst>
              <a:gd name="adj" fmla="val 11429"/>
            </a:avLst>
          </a:prstGeom>
          <a:solidFill>
            <a:srgbClr val="E6EDF3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4389120"/>
            <a:ext cx="640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117"/>
                </a:solidFill>
              </a:rPr>
              <a:t>5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1097280" y="4389120"/>
            <a:ext cx="1088136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298448" y="442569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Quiet Moves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298448" y="4718304"/>
            <a:ext cx="10332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Non-capturing moves, sorted by History Heuristic score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5184648"/>
            <a:ext cx="640080" cy="685800"/>
          </a:xfrm>
          <a:prstGeom prst="roundRect">
            <a:avLst>
              <a:gd name="adj" fmla="val 11429"/>
            </a:avLst>
          </a:prstGeom>
          <a:solidFill>
            <a:srgbClr val="FF6666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5184648"/>
            <a:ext cx="640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117"/>
                </a:solidFill>
              </a:rPr>
              <a:t>6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1097280" y="5184648"/>
            <a:ext cx="1088136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298448" y="5221224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Losing Captures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298448" y="5513832"/>
            <a:ext cx="10332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Captures where you lose material (SEE score &lt; 0)  e.g. QxP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Static Exchange Evaluation (SEE)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694944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 this capture actually profitable? Simulate the full exchange before committing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11430000" cy="22860"/>
          </a:xfrm>
          <a:prstGeom prst="rect">
            <a:avLst/>
          </a:prstGeom>
          <a:solidFill>
            <a:srgbClr val="F78166"/>
          </a:solidFill>
          <a:ln w="12700">
            <a:solidFill>
              <a:srgbClr val="F781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175004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a White Knight captures a Black Queen, is that a good trade?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simulates every recapture on that square to give a material gain/loss score — without doing a full search.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22402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Example: Knight captures Queen on d5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578608"/>
            <a:ext cx="2103120" cy="1371600"/>
          </a:xfrm>
          <a:prstGeom prst="roundRect">
            <a:avLst>
              <a:gd name="adj" fmla="val 5333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578608"/>
            <a:ext cx="2103120" cy="109728"/>
          </a:xfrm>
          <a:prstGeom prst="rect">
            <a:avLst/>
          </a:prstGeom>
          <a:solidFill>
            <a:srgbClr val="56D364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" y="27432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NxQ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75488" y="309067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6D3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+900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5488" y="3383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3B3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Net: +900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697480" y="2578608"/>
            <a:ext cx="2103120" cy="1371600"/>
          </a:xfrm>
          <a:prstGeom prst="roundRect">
            <a:avLst>
              <a:gd name="adj" fmla="val 5333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97480" y="2578608"/>
            <a:ext cx="2103120" cy="109728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15" name="Text 13"/>
          <p:cNvSpPr/>
          <p:nvPr/>
        </p:nvSpPr>
        <p:spPr>
          <a:xfrm>
            <a:off x="2807208" y="27432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PxN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807208" y="309067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781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-300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807208" y="3383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3B3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Net: +600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0" y="2578608"/>
            <a:ext cx="2103120" cy="1371600"/>
          </a:xfrm>
          <a:prstGeom prst="roundRect">
            <a:avLst>
              <a:gd name="adj" fmla="val 5333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0" y="2578608"/>
            <a:ext cx="2103120" cy="109728"/>
          </a:xfrm>
          <a:prstGeom prst="rect">
            <a:avLst/>
          </a:prstGeom>
          <a:solidFill>
            <a:srgbClr val="56D364"/>
          </a:solidFill>
          <a:ln/>
        </p:spPr>
      </p:sp>
      <p:sp>
        <p:nvSpPr>
          <p:cNvPr id="20" name="Text 18"/>
          <p:cNvSpPr/>
          <p:nvPr/>
        </p:nvSpPr>
        <p:spPr>
          <a:xfrm>
            <a:off x="5138928" y="27432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BxP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138928" y="309067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6D3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+100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138928" y="3383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3B3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Net: +700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360920" y="2578608"/>
            <a:ext cx="2103120" cy="1371600"/>
          </a:xfrm>
          <a:prstGeom prst="roundRect">
            <a:avLst>
              <a:gd name="adj" fmla="val 5333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60920" y="2578608"/>
            <a:ext cx="2103120" cy="109728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25" name="Text 23"/>
          <p:cNvSpPr/>
          <p:nvPr/>
        </p:nvSpPr>
        <p:spPr>
          <a:xfrm>
            <a:off x="7470648" y="27432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NxB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470648" y="309067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781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-300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470648" y="3383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3B3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Net: +400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692640" y="2578608"/>
            <a:ext cx="2103120" cy="1371600"/>
          </a:xfrm>
          <a:prstGeom prst="roundRect">
            <a:avLst>
              <a:gd name="adj" fmla="val 5333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92640" y="2578608"/>
            <a:ext cx="2103120" cy="109728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0" name="Text 28"/>
          <p:cNvSpPr/>
          <p:nvPr/>
        </p:nvSpPr>
        <p:spPr>
          <a:xfrm>
            <a:off x="9802368" y="27432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---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802368" y="309067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781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802368" y="3383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3B3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Net: +400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57200" y="4069080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6D3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result = +400 centipawns (4 pawns ahead) → this is a WINNING capture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65760" y="4480560"/>
            <a:ext cx="11750040" cy="1234440"/>
          </a:xfrm>
          <a:prstGeom prst="roundRect">
            <a:avLst>
              <a:gd name="adj" fmla="val 5926"/>
            </a:avLst>
          </a:prstGeom>
          <a:solidFill>
            <a:srgbClr val="0D1117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65760" y="4480560"/>
            <a:ext cx="54864" cy="1234440"/>
          </a:xfrm>
          <a:prstGeom prst="rect">
            <a:avLst/>
          </a:prstGeom>
          <a:solidFill>
            <a:srgbClr val="79C0FF"/>
          </a:solidFill>
          <a:ln w="12700">
            <a:solidFill>
              <a:srgbClr val="79C0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5488" y="4480560"/>
            <a:ext cx="11622024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SEE(Square toSquare, Piece captured, Square fromSquare, Piece attacker) 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int gain = PieceValue[captured];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(gain - SEE(toSquare, attacker, nextAttacker) &gt; 0)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 gain - SEE(...);   // recapture is worthwhile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0;                       // stop — don't recapture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65760" y="5806440"/>
            <a:ext cx="11750040" cy="777240"/>
          </a:xfrm>
          <a:prstGeom prst="roundRect">
            <a:avLst>
              <a:gd name="adj" fmla="val 9412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" y="5870448"/>
            <a:ext cx="11247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score &gt; 0  →  Winning capture  →  Rank 2 in move ordering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score &lt; 0  →  Losing capture   →  Rank 6 in move ordering (searched last or pruned)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Advanced Pruning Techniques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694944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 heuristics that skip large parts of the search tree safely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11430000" cy="22860"/>
          </a:xfrm>
          <a:prstGeom prst="rect">
            <a:avLst/>
          </a:prstGeom>
          <a:solidFill>
            <a:srgbClr val="F78166"/>
          </a:solidFill>
          <a:ln w="12700">
            <a:solidFill>
              <a:srgbClr val="F781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07008"/>
            <a:ext cx="1175004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07008"/>
            <a:ext cx="109728" cy="1691640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98448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781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Null Move Pruning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636776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Skip your turn and search at reduced depth. If the position is still great, the original move is likely a cut-off.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21671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3B3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When: Not in check, not in zugzwang, depth ≥ 3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89320" y="1316736"/>
            <a:ext cx="603504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89320" y="1316736"/>
            <a:ext cx="54864" cy="1463040"/>
          </a:xfrm>
          <a:prstGeom prst="rect">
            <a:avLst/>
          </a:prstGeom>
          <a:solidFill>
            <a:srgbClr val="79C0FF"/>
          </a:solidFill>
          <a:ln w="12700">
            <a:solidFill>
              <a:srgbClr val="79C0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9048" y="1316736"/>
            <a:ext cx="5907024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Give opponent two moves in a row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 = -Search(depth - R - 1, -beta, -beta+1);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(score &gt;= beta) return beta; // NMP cut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2962656"/>
            <a:ext cx="1175004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962656"/>
            <a:ext cx="109728" cy="1691640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3054096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3B3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Razoring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94360" y="3392424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low depths, if the static evaluation is far below alpha, skip the full search — jump to quiescence only.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" y="3922776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3B3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When: depth == 1 or 2, score + margin &lt; alpha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989320" y="3072384"/>
            <a:ext cx="603504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89320" y="3072384"/>
            <a:ext cx="54864" cy="1463040"/>
          </a:xfrm>
          <a:prstGeom prst="rect">
            <a:avLst/>
          </a:prstGeom>
          <a:solidFill>
            <a:srgbClr val="79C0FF"/>
          </a:solidFill>
          <a:ln w="12700">
            <a:solidFill>
              <a:srgbClr val="79C0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99048" y="3072384"/>
            <a:ext cx="5907024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(depth &lt;= 2 &amp;&amp; staticEval + Margin[depth] &lt; alpha)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QuiescenceSearch(alpha, beta);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4718304"/>
            <a:ext cx="1175004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4718304"/>
            <a:ext cx="109728" cy="1691640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4809744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9C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 Move Reductions (LMR)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94360" y="5148072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Later moves in the sorted list are probably bad. Search them at reduced depth first. Only re-search at full depth if they beat alpha.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94360" y="5678424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3B3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When: Move index ≥ 4, not a capture, not in check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989320" y="4828032"/>
            <a:ext cx="603504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89320" y="4828032"/>
            <a:ext cx="54864" cy="1463040"/>
          </a:xfrm>
          <a:prstGeom prst="rect">
            <a:avLst/>
          </a:prstGeom>
          <a:solidFill>
            <a:srgbClr val="79C0FF"/>
          </a:solidFill>
          <a:ln w="12700">
            <a:solidFill>
              <a:srgbClr val="79C0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99048" y="4828032"/>
            <a:ext cx="5907024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R = reduction(depth, moveIndex);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 = -Search(depth - R - 1, -alpha-1, -alpha);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(score &gt; alpha) // re-search at full depth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score = -Search(depth - 1, -beta, -alpha);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Quiescence Search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694944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Never evaluate a position mid-capture — the horizon effect would mislead scoring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11430000" cy="22860"/>
          </a:xfrm>
          <a:prstGeom prst="rect">
            <a:avLst/>
          </a:prstGeom>
          <a:solidFill>
            <a:srgbClr val="F78166"/>
          </a:solidFill>
          <a:ln w="12700">
            <a:solidFill>
              <a:srgbClr val="F781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1750040" cy="960120"/>
          </a:xfrm>
          <a:prstGeom prst="roundRect">
            <a:avLst>
              <a:gd name="adj" fmla="val 761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261872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engine reaches its depth limit and is about to call Evaluate().  But a pawn just captured a queen.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static evaluator sees the pawn and says "great position!" — not knowing the queen is about to be recaptured.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Quiescence Search keeps looking at captures until the board is "quiet".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2286000"/>
            <a:ext cx="5760720" cy="2743200"/>
          </a:xfrm>
          <a:prstGeom prst="roundRect">
            <a:avLst>
              <a:gd name="adj" fmla="val 2667"/>
            </a:avLst>
          </a:prstGeom>
          <a:solidFill>
            <a:srgbClr val="1F1010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2286000"/>
            <a:ext cx="5760720" cy="91440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4231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781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Quiescence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76148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 stops at depth 7 mid-battle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3090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🌩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188720" y="310896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781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+9.0  ← WRONG (pawn took queen)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3639312"/>
            <a:ext cx="5303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Evaluator sees the pawn on queen's square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 recapture — vastly inflates the score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0" y="2286000"/>
            <a:ext cx="5760720" cy="2743200"/>
          </a:xfrm>
          <a:prstGeom prst="roundRect">
            <a:avLst>
              <a:gd name="adj" fmla="val 2667"/>
            </a:avLst>
          </a:prstGeom>
          <a:solidFill>
            <a:srgbClr val="0F1F10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0" y="2286000"/>
            <a:ext cx="5760720" cy="91440"/>
          </a:xfrm>
          <a:prstGeom prst="rect">
            <a:avLst/>
          </a:prstGeom>
          <a:solidFill>
            <a:srgbClr val="56D364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0" y="24231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6D3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Quiescence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83680" y="276148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 extends until no captures remain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3090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✓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223760" y="310896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6D3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-0.2  ← CORRECT (queen was recaptured)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83680" y="3639312"/>
            <a:ext cx="5303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Plays out: PxQ, RxP, PxR... until no more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captures available. Scores the final quiet board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5120640"/>
            <a:ext cx="11750040" cy="1691640"/>
          </a:xfrm>
          <a:prstGeom prst="roundRect">
            <a:avLst>
              <a:gd name="adj" fmla="val 4324"/>
            </a:avLst>
          </a:prstGeom>
          <a:solidFill>
            <a:srgbClr val="0D1117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5120640"/>
            <a:ext cx="54864" cy="1691640"/>
          </a:xfrm>
          <a:prstGeom prst="rect">
            <a:avLst/>
          </a:prstGeom>
          <a:solidFill>
            <a:srgbClr val="79C0FF"/>
          </a:solidFill>
          <a:ln w="12700">
            <a:solidFill>
              <a:srgbClr val="79C0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" y="5120640"/>
            <a:ext cx="11622024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QuiescenceSearch(int alpha, int beta) 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int standPat = Evaluate();           // static eval of current position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(standPat &gt;= beta) return beta;   // position is already great — stop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alpha = Max(alpha, standPat);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foreach (Move capture in captures) { // only look at captures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score = -QuiescenceSearch(-beta, -alpha);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(score &gt;= beta) return beta;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alpha = Max(alpha, score);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alpha;                        // return when no captures remain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Static Evaluation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694944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Counting who's actually winning — the engine's judge at the leaf nodes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11430000" cy="22860"/>
          </a:xfrm>
          <a:prstGeom prst="rect">
            <a:avLst/>
          </a:prstGeom>
          <a:solidFill>
            <a:srgbClr val="F78166"/>
          </a:solidFill>
          <a:ln w="12700">
            <a:solidFill>
              <a:srgbClr val="F781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07008"/>
            <a:ext cx="11750040" cy="73152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07008"/>
            <a:ext cx="2286000" cy="731520"/>
          </a:xfrm>
          <a:prstGeom prst="rect">
            <a:avLst/>
          </a:prstGeom>
          <a:solidFill>
            <a:srgbClr val="1C2030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6187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781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Material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108960" y="1261872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78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+++++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663440" y="126187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Count each piece × its value (P=100, N=300, B=325, R=500, Q=900)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011680"/>
            <a:ext cx="11750040" cy="73152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2011680"/>
            <a:ext cx="1828800" cy="731520"/>
          </a:xfrm>
          <a:prstGeom prst="rect">
            <a:avLst/>
          </a:prstGeom>
          <a:solidFill>
            <a:srgbClr val="1C2030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206654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9C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Piece-Square Tables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108960" y="2066544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++++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63440" y="2066544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pawn on e4 is worth more than d7 — 64 bonus values per piece type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2816352"/>
            <a:ext cx="11750040" cy="73152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816352"/>
            <a:ext cx="1371600" cy="731520"/>
          </a:xfrm>
          <a:prstGeom prst="rect">
            <a:avLst/>
          </a:prstGeom>
          <a:solidFill>
            <a:srgbClr val="1C2030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287121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3B3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Pawn Structure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108960" y="2871216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+++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663440" y="2871216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Passed pawns (+), doubled pawns (−), isolated pawns (−)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3621024"/>
            <a:ext cx="11750040" cy="73152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3621024"/>
            <a:ext cx="1371600" cy="731520"/>
          </a:xfrm>
          <a:prstGeom prst="rect">
            <a:avLst/>
          </a:prstGeom>
          <a:solidFill>
            <a:srgbClr val="1C2030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3675888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6D3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King Safety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108960" y="367588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+++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663440" y="3675888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Pawn shield score, open files near king (−), attackers near king (−)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5760" y="4425696"/>
            <a:ext cx="11750040" cy="73152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4425696"/>
            <a:ext cx="914400" cy="731520"/>
          </a:xfrm>
          <a:prstGeom prst="rect">
            <a:avLst/>
          </a:prstGeom>
          <a:solidFill>
            <a:srgbClr val="1C2030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44805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Mobility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108960" y="448056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++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663440" y="4480560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 legal moves = better development; subtract opponent mobility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5230368"/>
            <a:ext cx="11750040" cy="73152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" y="5230368"/>
            <a:ext cx="457200" cy="731520"/>
          </a:xfrm>
          <a:prstGeom prst="rect">
            <a:avLst/>
          </a:prstGeom>
          <a:solidFill>
            <a:srgbClr val="1C2030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528523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Bishop Pair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108960" y="5285232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663440" y="528523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+50 centipawns if you have both bishops (strong in open games)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65760" y="6144768"/>
            <a:ext cx="11750040" cy="9144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6144768"/>
            <a:ext cx="54864" cy="914400"/>
          </a:xfrm>
          <a:prstGeom prst="rect">
            <a:avLst/>
          </a:prstGeom>
          <a:solidFill>
            <a:srgbClr val="79C0FF"/>
          </a:solidFill>
          <a:ln w="12700">
            <a:solidFill>
              <a:srgbClr val="79C0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5488" y="6144768"/>
            <a:ext cx="116220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Returns score in centipawns from White's POV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Positive = White winning, Negative = Black winning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Evaluate(Board b) 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MaterialScore(b) + PieceSquareScore(b) + PawnScore(b)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+ KingSafetyScore(b) + MobilityScore(b) + BishopPairBonus(b);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Full Loop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694944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the engine does from the moment you play d4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11430000" cy="22860"/>
          </a:xfrm>
          <a:prstGeom prst="rect">
            <a:avLst/>
          </a:prstGeom>
          <a:solidFill>
            <a:srgbClr val="F78166"/>
          </a:solidFill>
          <a:ln w="12700">
            <a:solidFill>
              <a:srgbClr val="F781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07008"/>
            <a:ext cx="3840480" cy="150876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07008"/>
            <a:ext cx="3840480" cy="91440"/>
          </a:xfrm>
          <a:prstGeom prst="rect">
            <a:avLst/>
          </a:prstGeom>
          <a:solidFill>
            <a:srgbClr val="E6EDF3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6EDF3"/>
                </a:solidFill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51560" y="137160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play d4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51560" y="1719072"/>
            <a:ext cx="30175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frontend drops the pawn. POST /game/move sent to API.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24528" y="1956816"/>
            <a:ext cx="128016" cy="0"/>
          </a:xfrm>
          <a:prstGeom prst="line">
            <a:avLst/>
          </a:prstGeom>
          <a:noFill/>
          <a:ln w="19050">
            <a:solidFill>
              <a:srgbClr val="E6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70832" y="1207008"/>
            <a:ext cx="3840480" cy="150876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70832" y="1207008"/>
            <a:ext cx="3840480" cy="91440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13" name="Text 11"/>
          <p:cNvSpPr/>
          <p:nvPr/>
        </p:nvSpPr>
        <p:spPr>
          <a:xfrm>
            <a:off x="4480560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78166"/>
                </a:solidFill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056632" y="137160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Board Updated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056632" y="1719072"/>
            <a:ext cx="30175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 updates bitboards. Zobrist hash updated in 2 XOR ops.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229600" y="1956816"/>
            <a:ext cx="128016" cy="0"/>
          </a:xfrm>
          <a:prstGeom prst="line">
            <a:avLst/>
          </a:prstGeom>
          <a:noFill/>
          <a:ln w="19050">
            <a:solidFill>
              <a:srgbClr val="F781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75904" y="1207008"/>
            <a:ext cx="3840480" cy="150876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75904" y="1207008"/>
            <a:ext cx="3840480" cy="91440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19" name="Text 17"/>
          <p:cNvSpPr/>
          <p:nvPr/>
        </p:nvSpPr>
        <p:spPr>
          <a:xfrm>
            <a:off x="8485632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78166"/>
                </a:solidFill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061704" y="137160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FindBestMove() called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061704" y="1719072"/>
            <a:ext cx="30175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 wipes killer moves. 5-second clock starts.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65760" y="2834640"/>
            <a:ext cx="3840480" cy="150876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" y="2834640"/>
            <a:ext cx="3840480" cy="91440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29992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3B341"/>
                </a:solidFill>
              </a:rPr>
              <a:t>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051560" y="299923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Iterative Deepening loop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051560" y="3346704"/>
            <a:ext cx="30175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Depth 1 → 2 → 3 … Seed each depth with last depth's best move.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224528" y="3584448"/>
            <a:ext cx="128016" cy="0"/>
          </a:xfrm>
          <a:prstGeom prst="line">
            <a:avLst/>
          </a:prstGeom>
          <a:noFill/>
          <a:ln w="19050">
            <a:solidFill>
              <a:srgbClr val="E3B34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70832" y="2834640"/>
            <a:ext cx="3840480" cy="150876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70832" y="2834640"/>
            <a:ext cx="3840480" cy="91440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30" name="Text 28"/>
          <p:cNvSpPr/>
          <p:nvPr/>
        </p:nvSpPr>
        <p:spPr>
          <a:xfrm>
            <a:off x="4480560" y="29992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3B341"/>
                </a:solidFill>
              </a:rPr>
              <a:t>5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5056632" y="299923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AlphaBeta called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5056632" y="3346704"/>
            <a:ext cx="30175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Probe TT. Generate moves. Order by hash/captures/killers.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229600" y="3584448"/>
            <a:ext cx="128016" cy="0"/>
          </a:xfrm>
          <a:prstGeom prst="line">
            <a:avLst/>
          </a:prstGeom>
          <a:noFill/>
          <a:ln w="19050">
            <a:solidFill>
              <a:srgbClr val="E3B34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375904" y="2834640"/>
            <a:ext cx="3840480" cy="150876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75904" y="2834640"/>
            <a:ext cx="3840480" cy="91440"/>
          </a:xfrm>
          <a:prstGeom prst="rect">
            <a:avLst/>
          </a:prstGeom>
          <a:solidFill>
            <a:srgbClr val="56D364"/>
          </a:solidFill>
          <a:ln/>
        </p:spPr>
      </p:sp>
      <p:sp>
        <p:nvSpPr>
          <p:cNvPr id="36" name="Text 34"/>
          <p:cNvSpPr/>
          <p:nvPr/>
        </p:nvSpPr>
        <p:spPr>
          <a:xfrm>
            <a:off x="8485632" y="29992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6D364"/>
                </a:solidFill>
              </a:rPr>
              <a:t>6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9061704" y="299923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Pruning fires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9061704" y="3346704"/>
            <a:ext cx="30175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NMP, Razoring, LMR, Alpha-Beta cuts discard millions of nodes.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365760" y="4462272"/>
            <a:ext cx="3840480" cy="150876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5760" y="4462272"/>
            <a:ext cx="3840480" cy="91440"/>
          </a:xfrm>
          <a:prstGeom prst="rect">
            <a:avLst/>
          </a:prstGeom>
          <a:solidFill>
            <a:srgbClr val="56D364"/>
          </a:solidFill>
          <a:ln/>
        </p:spPr>
      </p:sp>
      <p:sp>
        <p:nvSpPr>
          <p:cNvPr id="41" name="Text 39"/>
          <p:cNvSpPr/>
          <p:nvPr/>
        </p:nvSpPr>
        <p:spPr>
          <a:xfrm>
            <a:off x="475488" y="462686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6D364"/>
                </a:solidFill>
              </a:rPr>
              <a:t>7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1051560" y="4626864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Leaf reached → QSearch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1051560" y="4974336"/>
            <a:ext cx="30175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Extend captures until quiet. Evaluate static score.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224528" y="5212080"/>
            <a:ext cx="128016" cy="0"/>
          </a:xfrm>
          <a:prstGeom prst="line">
            <a:avLst/>
          </a:prstGeom>
          <a:noFill/>
          <a:ln w="19050">
            <a:solidFill>
              <a:srgbClr val="56D36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70832" y="4462272"/>
            <a:ext cx="3840480" cy="150876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370832" y="4462272"/>
            <a:ext cx="3840480" cy="91440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47" name="Text 45"/>
          <p:cNvSpPr/>
          <p:nvPr/>
        </p:nvSpPr>
        <p:spPr>
          <a:xfrm>
            <a:off x="4480560" y="462686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78166"/>
                </a:solidFill>
              </a:rPr>
              <a:t>8</a:t>
            </a:r>
            <a:endParaRPr lang="en-US" sz="2200" dirty="0"/>
          </a:p>
        </p:txBody>
      </p:sp>
      <p:sp>
        <p:nvSpPr>
          <p:cNvPr id="48" name="Text 46"/>
          <p:cNvSpPr/>
          <p:nvPr/>
        </p:nvSpPr>
        <p:spPr>
          <a:xfrm>
            <a:off x="5056632" y="4626864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Timer expires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5056632" y="4974336"/>
            <a:ext cx="30175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Current depth discarded. Best move from last complete depth selected.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8229600" y="5212080"/>
            <a:ext cx="128016" cy="0"/>
          </a:xfrm>
          <a:prstGeom prst="line">
            <a:avLst/>
          </a:prstGeom>
          <a:noFill/>
          <a:ln w="19050">
            <a:solidFill>
              <a:srgbClr val="F7816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375904" y="4462272"/>
            <a:ext cx="3840480" cy="150876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375904" y="4462272"/>
            <a:ext cx="3840480" cy="91440"/>
          </a:xfrm>
          <a:prstGeom prst="rect">
            <a:avLst/>
          </a:prstGeom>
          <a:solidFill>
            <a:srgbClr val="79C0FF"/>
          </a:solidFill>
          <a:ln/>
        </p:spPr>
      </p:sp>
      <p:sp>
        <p:nvSpPr>
          <p:cNvPr id="53" name="Text 51"/>
          <p:cNvSpPr/>
          <p:nvPr/>
        </p:nvSpPr>
        <p:spPr>
          <a:xfrm>
            <a:off x="8485632" y="462686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9C0FF"/>
                </a:solidFill>
              </a:rPr>
              <a:t>9</a:t>
            </a:r>
            <a:endParaRPr lang="en-US" sz="2200" dirty="0"/>
          </a:p>
        </p:txBody>
      </p:sp>
      <p:sp>
        <p:nvSpPr>
          <p:cNvPr id="54" name="Text 52"/>
          <p:cNvSpPr/>
          <p:nvPr/>
        </p:nvSpPr>
        <p:spPr>
          <a:xfrm>
            <a:off x="9061704" y="4626864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 plays Nf6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9061704" y="4974336"/>
            <a:ext cx="30175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returns move. React animates knight to f6. Your turn.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Architecture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694944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 .NET 10 solution — four layers, clean separation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11430000" cy="22860"/>
          </a:xfrm>
          <a:prstGeom prst="rect">
            <a:avLst/>
          </a:prstGeom>
          <a:solidFill>
            <a:srgbClr val="F78166"/>
          </a:solidFill>
          <a:ln w="12700">
            <a:solidFill>
              <a:srgbClr val="F781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2560320" cy="4754880"/>
          </a:xfrm>
          <a:prstGeom prst="roundRect">
            <a:avLst>
              <a:gd name="adj" fmla="val 2857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325880"/>
            <a:ext cx="2560320" cy="502920"/>
          </a:xfrm>
          <a:prstGeom prst="rect">
            <a:avLst/>
          </a:prstGeom>
          <a:solidFill>
            <a:srgbClr val="1E2A1E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990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79C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chess-ui</a:t>
            </a:r>
            <a:endParaRPr lang="en-US" sz="115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79C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(React / TS)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94360" y="2011680"/>
            <a:ext cx="2377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App.tsx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77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gameApi.ts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3017520"/>
            <a:ext cx="2377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engineHub.ts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3520440"/>
            <a:ext cx="2377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react-chessboard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83280" y="1325880"/>
            <a:ext cx="2560320" cy="4754880"/>
          </a:xfrm>
          <a:prstGeom prst="roundRect">
            <a:avLst>
              <a:gd name="adj" fmla="val 2857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83280" y="1325880"/>
            <a:ext cx="2560320" cy="502920"/>
          </a:xfrm>
          <a:prstGeom prst="rect">
            <a:avLst/>
          </a:prstGeom>
          <a:solidFill>
            <a:srgbClr val="1E2A1E"/>
          </a:solidFill>
          <a:ln/>
        </p:spPr>
      </p:sp>
      <p:sp>
        <p:nvSpPr>
          <p:cNvPr id="14" name="Text 12"/>
          <p:cNvSpPr/>
          <p:nvPr/>
        </p:nvSpPr>
        <p:spPr>
          <a:xfrm>
            <a:off x="3520440" y="13990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781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Chess.API</a:t>
            </a:r>
            <a:endParaRPr lang="en-US" sz="115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F781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(ASP.NET 10)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520440" y="2011680"/>
            <a:ext cx="2377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GameController.cs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520440" y="2514600"/>
            <a:ext cx="2377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SignalR Hub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520440" y="3017520"/>
            <a:ext cx="2377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appsettings.json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520440" y="3520440"/>
            <a:ext cx="2377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Program.cs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309360" y="1325880"/>
            <a:ext cx="2560320" cy="4754880"/>
          </a:xfrm>
          <a:prstGeom prst="roundRect">
            <a:avLst>
              <a:gd name="adj" fmla="val 2857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09360" y="1325880"/>
            <a:ext cx="2560320" cy="502920"/>
          </a:xfrm>
          <a:prstGeom prst="rect">
            <a:avLst/>
          </a:prstGeom>
          <a:solidFill>
            <a:srgbClr val="1E2A1E"/>
          </a:solidFill>
          <a:ln/>
        </p:spPr>
      </p:sp>
      <p:sp>
        <p:nvSpPr>
          <p:cNvPr id="21" name="Text 19"/>
          <p:cNvSpPr/>
          <p:nvPr/>
        </p:nvSpPr>
        <p:spPr>
          <a:xfrm>
            <a:off x="6446520" y="13990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E3B3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Chess.Engine.AI</a:t>
            </a:r>
            <a:endParaRPr lang="en-US" sz="115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E3B3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(Search)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46520" y="2011680"/>
            <a:ext cx="2377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Search.cs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46520" y="2514600"/>
            <a:ext cx="2377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MoveOrderer.cs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46520" y="3017520"/>
            <a:ext cx="2377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TransposTable.cs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46520" y="3520440"/>
            <a:ext cx="2377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Evaluation.cs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235440" y="1325880"/>
            <a:ext cx="2560320" cy="4754880"/>
          </a:xfrm>
          <a:prstGeom prst="roundRect">
            <a:avLst>
              <a:gd name="adj" fmla="val 2857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235440" y="1325880"/>
            <a:ext cx="2560320" cy="502920"/>
          </a:xfrm>
          <a:prstGeom prst="rect">
            <a:avLst/>
          </a:prstGeom>
          <a:solidFill>
            <a:srgbClr val="1E2A1E"/>
          </a:solidFill>
          <a:ln/>
        </p:spPr>
      </p:sp>
      <p:sp>
        <p:nvSpPr>
          <p:cNvPr id="28" name="Text 26"/>
          <p:cNvSpPr/>
          <p:nvPr/>
        </p:nvSpPr>
        <p:spPr>
          <a:xfrm>
            <a:off x="9372600" y="13990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6D3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Chess.Engine.Core</a:t>
            </a:r>
            <a:endParaRPr lang="en-US" sz="115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56D3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(Rules)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9372600" y="2011680"/>
            <a:ext cx="2377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Board.cs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372600" y="2514600"/>
            <a:ext cx="2377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MoveGenerator.cs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372600" y="3017520"/>
            <a:ext cx="2377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ZobristHash.cs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372600" y="3520440"/>
            <a:ext cx="2377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Move.cs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017520" y="3383280"/>
            <a:ext cx="347472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35808" y="2880360"/>
            <a:ext cx="51206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943600" y="3383280"/>
            <a:ext cx="347472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61888" y="2880360"/>
            <a:ext cx="51206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call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8869680" y="3383280"/>
            <a:ext cx="347472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887968" y="2880360"/>
            <a:ext cx="51206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call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57200" y="6236208"/>
            <a:ext cx="11612880" cy="868680"/>
          </a:xfrm>
          <a:prstGeom prst="roundRect">
            <a:avLst>
              <a:gd name="adj" fmla="val 8421"/>
            </a:avLst>
          </a:prstGeom>
          <a:solidFill>
            <a:srgbClr val="0D1117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57200" y="6236208"/>
            <a:ext cx="54864" cy="868680"/>
          </a:xfrm>
          <a:prstGeom prst="rect">
            <a:avLst/>
          </a:prstGeom>
          <a:solidFill>
            <a:srgbClr val="79C0FF"/>
          </a:solidFill>
          <a:ln w="12700">
            <a:solidFill>
              <a:srgbClr val="79C0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66928" y="6236208"/>
            <a:ext cx="1148486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Chess.API  →  GameController  →  ChessEngine.FindBestMove(board, 5000ms)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Chess.Engine.AI.Search  →  AlphaBeta(depth, α, β)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Chess.Engine.Core.MoveGenerator  →  GenerateLegalMoves(bitboards)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6D3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Chess.Engine.Core.ZobristHash    →  ComputeHash(board)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nsola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2026-10-04T09:38:16Z</dcterms:created>
  <dcterms:modified xsi:type="dcterms:W3CDTF">2026-10-04T09:38:16Z</dcterms:modified>
</cp:coreProperties>
</file>